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tmp" ContentType="image/png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4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5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notesSlides/notesSlide10.xml" ContentType="application/vnd.openxmlformats-officedocument.presentationml.notesSlide+xml"/>
  <Override PartName="/ppt/charts/chart6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ppt/notesSlides/notesSlide11.xml" ContentType="application/vnd.openxmlformats-officedocument.presentationml.notesSlide+xml"/>
  <Override PartName="/ppt/charts/chart7.xml" ContentType="application/vnd.openxmlformats-officedocument.drawingml.chart+xml"/>
  <Override PartName="/ppt/charts/style7.xml" ContentType="application/vnd.ms-office.chartstyle+xml"/>
  <Override PartName="/ppt/charts/colors7.xml" ContentType="application/vnd.ms-office.chartcolorstyle+xml"/>
  <Override PartName="/ppt/notesSlides/notesSlide12.xml" ContentType="application/vnd.openxmlformats-officedocument.presentationml.notesSlide+xml"/>
  <Override PartName="/ppt/charts/chart8.xml" ContentType="application/vnd.openxmlformats-officedocument.drawingml.chart+xml"/>
  <Override PartName="/ppt/charts/style8.xml" ContentType="application/vnd.ms-office.chartstyle+xml"/>
  <Override PartName="/ppt/charts/colors8.xml" ContentType="application/vnd.ms-office.chartcolorstyl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95" r:id="rId15"/>
    <p:sldId id="270" r:id="rId16"/>
    <p:sldId id="271" r:id="rId17"/>
    <p:sldId id="272" r:id="rId18"/>
    <p:sldId id="273" r:id="rId19"/>
    <p:sldId id="274" r:id="rId20"/>
    <p:sldId id="280" r:id="rId21"/>
    <p:sldId id="275" r:id="rId22"/>
    <p:sldId id="276" r:id="rId23"/>
    <p:sldId id="277" r:id="rId24"/>
    <p:sldId id="278" r:id="rId25"/>
    <p:sldId id="279" r:id="rId26"/>
    <p:sldId id="281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4" r:id="rId38"/>
    <p:sldId id="293" r:id="rId3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433" autoAdjust="0"/>
    <p:restoredTop sz="83735" autoAdjust="0"/>
  </p:normalViewPr>
  <p:slideViewPr>
    <p:cSldViewPr snapToGrid="0">
      <p:cViewPr varScale="1">
        <p:scale>
          <a:sx n="74" d="100"/>
          <a:sy n="74" d="100"/>
        </p:scale>
        <p:origin x="43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1.xlsx"/><Relationship Id="rId2" Type="http://schemas.microsoft.com/office/2011/relationships/chartColorStyle" Target="colors2.xml"/><Relationship Id="rId1" Type="http://schemas.microsoft.com/office/2011/relationships/chartStyle" Target="style2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2.xlsx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3.xlsx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4.xlsx"/><Relationship Id="rId2" Type="http://schemas.microsoft.com/office/2011/relationships/chartColorStyle" Target="colors5.xml"/><Relationship Id="rId1" Type="http://schemas.microsoft.com/office/2011/relationships/chartStyle" Target="style5.xml"/></Relationships>
</file>

<file path=ppt/charts/_rels/chart6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5.xlsx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7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6.xlsx"/><Relationship Id="rId2" Type="http://schemas.microsoft.com/office/2011/relationships/chartColorStyle" Target="colors7.xml"/><Relationship Id="rId1" Type="http://schemas.microsoft.com/office/2011/relationships/chartStyle" Target="style7.xml"/></Relationships>
</file>

<file path=ppt/charts/_rels/chart8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7.xlsx"/><Relationship Id="rId2" Type="http://schemas.microsoft.com/office/2011/relationships/chartColorStyle" Target="colors8.xml"/><Relationship Id="rId1" Type="http://schemas.microsoft.com/office/2011/relationships/chartStyle" Target="style8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noProof="0" dirty="0"/>
              <a:t>Some random chart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DB-4AE1-9D17-DC57774664F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CDB-4AE1-9D17-DC57774664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57822175"/>
        <c:axId val="1657842559"/>
      </c:barChart>
      <c:catAx>
        <c:axId val="16578221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57842559"/>
        <c:crosses val="autoZero"/>
        <c:auto val="1"/>
        <c:lblAlgn val="ctr"/>
        <c:lblOffset val="100"/>
        <c:noMultiLvlLbl val="0"/>
      </c:catAx>
      <c:valAx>
        <c:axId val="16578425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578221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noProof="0" dirty="0"/>
              <a:t>Some random chart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ACDB-4AE1-9D17-DC57774664F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ACDB-4AE1-9D17-DC57774664F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657822175"/>
        <c:axId val="1657842559"/>
      </c:barChart>
      <c:catAx>
        <c:axId val="1657822175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57842559"/>
        <c:crosses val="autoZero"/>
        <c:auto val="1"/>
        <c:lblAlgn val="ctr"/>
        <c:lblOffset val="100"/>
        <c:noMultiLvlLbl val="0"/>
      </c:catAx>
      <c:valAx>
        <c:axId val="165784255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657822175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Lượng sinh viên theo chuyên ngành 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017C-4CB7-8A09-E7656B9FE1B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017C-4CB7-8A09-E7656B9FE1B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017C-4CB7-8A09-E7656B9FE1B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017C-4CB7-8A09-E7656B9FE1B7}"/>
              </c:ext>
            </c:extLst>
          </c:dPt>
          <c:cat>
            <c:strRef>
              <c:f>Sheet1!$A$2:$A$5</c:f>
              <c:strCache>
                <c:ptCount val="4"/>
                <c:pt idx="0">
                  <c:v>Công nghệ phần mềm </c:v>
                </c:pt>
                <c:pt idx="1">
                  <c:v>Hệ thống thông tin </c:v>
                </c:pt>
                <c:pt idx="2">
                  <c:v>Mạng </c:v>
                </c:pt>
                <c:pt idx="3">
                  <c:v>Trí tuệ nhân tạo 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</c:v>
                </c:pt>
                <c:pt idx="1">
                  <c:v>60</c:v>
                </c:pt>
                <c:pt idx="2">
                  <c:v>30</c:v>
                </c:pt>
                <c:pt idx="3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CE-4D67-A56D-097231D287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view3D>
      <c:rotX val="30"/>
      <c:rotY val="0"/>
      <c:depthPercent val="100"/>
      <c:rAngAx val="0"/>
    </c:view3D>
    <c:floor>
      <c:thickness val="0"/>
      <c:spPr>
        <a:noFill/>
        <a:ln>
          <a:noFill/>
        </a:ln>
        <a:effectLst/>
        <a:sp3d/>
      </c:spPr>
    </c:floor>
    <c:sideWall>
      <c:thickness val="0"/>
      <c:spPr>
        <a:noFill/>
        <a:ln>
          <a:noFill/>
        </a:ln>
        <a:effectLst/>
        <a:sp3d/>
      </c:spPr>
    </c:sideWall>
    <c:backWall>
      <c:thickness val="0"/>
      <c:spPr>
        <a:noFill/>
        <a:ln>
          <a:noFill/>
        </a:ln>
        <a:effectLst/>
        <a:sp3d/>
      </c:spPr>
    </c:backWall>
    <c:plotArea>
      <c:layout/>
      <c:pie3D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Lượng sinh viên theo chuyên ngành 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017C-4CB7-8A09-E7656B9FE1B7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017C-4CB7-8A09-E7656B9FE1B7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5-017C-4CB7-8A09-E7656B9FE1B7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25400">
                <a:solidFill>
                  <a:schemeClr val="lt1"/>
                </a:solidFill>
              </a:ln>
              <a:effectLst/>
              <a:sp3d contourW="25400">
                <a:contourClr>
                  <a:schemeClr val="lt1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7-017C-4CB7-8A09-E7656B9FE1B7}"/>
              </c:ext>
            </c:extLst>
          </c:dPt>
          <c:cat>
            <c:strRef>
              <c:f>Sheet1!$A$2:$A$5</c:f>
              <c:strCache>
                <c:ptCount val="4"/>
                <c:pt idx="0">
                  <c:v>Công nghệ phần mềm </c:v>
                </c:pt>
                <c:pt idx="1">
                  <c:v>Hệ thống thông tin </c:v>
                </c:pt>
                <c:pt idx="2">
                  <c:v>Mạng </c:v>
                </c:pt>
                <c:pt idx="3">
                  <c:v>Trí tuệ nhân tạo 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</c:v>
                </c:pt>
                <c:pt idx="1">
                  <c:v>60</c:v>
                </c:pt>
                <c:pt idx="2">
                  <c:v>30</c:v>
                </c:pt>
                <c:pt idx="3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0CE-4D67-A56D-097231D2872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</c:pie3D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Lượng sinh viên theo chuyên ngành 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C666-4C76-8D1F-CADA59A03E8D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C666-4C76-8D1F-CADA59A03E8D}"/>
              </c:ext>
            </c:extLst>
          </c:dPt>
          <c:dPt>
            <c:idx val="2"/>
            <c:bubble3D val="0"/>
            <c:spPr>
              <a:solidFill>
                <a:schemeClr val="accent3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C666-4C76-8D1F-CADA59A03E8D}"/>
              </c:ext>
            </c:extLst>
          </c:dPt>
          <c:dPt>
            <c:idx val="3"/>
            <c:bubble3D val="0"/>
            <c:spPr>
              <a:solidFill>
                <a:schemeClr val="accent4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C666-4C76-8D1F-CADA59A03E8D}"/>
              </c:ext>
            </c:extLst>
          </c:dPt>
          <c:cat>
            <c:strRef>
              <c:f>Sheet1!$A$2:$A$5</c:f>
              <c:strCache>
                <c:ptCount val="4"/>
                <c:pt idx="0">
                  <c:v>Công nghệ phần mềm </c:v>
                </c:pt>
                <c:pt idx="1">
                  <c:v>Hệ thống thông tin </c:v>
                </c:pt>
                <c:pt idx="2">
                  <c:v>Mạng </c:v>
                </c:pt>
                <c:pt idx="3">
                  <c:v>Trí tuệ nhân tạo 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80</c:v>
                </c:pt>
                <c:pt idx="1">
                  <c:v>60</c:v>
                </c:pt>
                <c:pt idx="2">
                  <c:v>30</c:v>
                </c:pt>
                <c:pt idx="3">
                  <c:v>30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C666-4C76-8D1F-CADA59A03E8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0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radarChart>
        <c:radarStyle val="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ln w="28575" cap="rnd">
              <a:solidFill>
                <a:schemeClr val="accent1"/>
              </a:solidFill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Sheet1!$B$2:$B$6</c:f>
              <c:numCache>
                <c:formatCode>General</c:formatCode>
                <c:ptCount val="5"/>
                <c:pt idx="0">
                  <c:v>32</c:v>
                </c:pt>
                <c:pt idx="1">
                  <c:v>32</c:v>
                </c:pt>
                <c:pt idx="2">
                  <c:v>28</c:v>
                </c:pt>
                <c:pt idx="3">
                  <c:v>12</c:v>
                </c:pt>
                <c:pt idx="4">
                  <c:v>15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01D-4A12-B7C3-BE3700959CE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ln w="28575" cap="rnd">
              <a:solidFill>
                <a:schemeClr val="accent2"/>
              </a:solidFill>
              <a:round/>
            </a:ln>
            <a:effectLst/>
          </c:spPr>
          <c:marker>
            <c:symbol val="none"/>
          </c:marker>
          <c:cat>
            <c:numRef>
              <c:f>Sheet1!$A$2:$A$6</c:f>
              <c:numCache>
                <c:formatCode>m/d/yyyy</c:formatCode>
                <c:ptCount val="5"/>
                <c:pt idx="0">
                  <c:v>37261</c:v>
                </c:pt>
                <c:pt idx="1">
                  <c:v>37262</c:v>
                </c:pt>
                <c:pt idx="2">
                  <c:v>37263</c:v>
                </c:pt>
                <c:pt idx="3">
                  <c:v>37264</c:v>
                </c:pt>
                <c:pt idx="4">
                  <c:v>37265</c:v>
                </c:pt>
              </c:numCache>
            </c:numRef>
          </c:cat>
          <c:val>
            <c:numRef>
              <c:f>Sheet1!$C$2:$C$6</c:f>
              <c:numCache>
                <c:formatCode>General</c:formatCode>
                <c:ptCount val="5"/>
                <c:pt idx="0">
                  <c:v>12</c:v>
                </c:pt>
                <c:pt idx="1">
                  <c:v>12</c:v>
                </c:pt>
                <c:pt idx="2">
                  <c:v>12</c:v>
                </c:pt>
                <c:pt idx="3">
                  <c:v>21</c:v>
                </c:pt>
                <c:pt idx="4">
                  <c:v>28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01D-4A12-B7C3-BE3700959CE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2026307103"/>
        <c:axId val="2026308767"/>
      </c:radarChart>
      <c:catAx>
        <c:axId val="2026307103"/>
        <c:scaling>
          <c:orientation val="minMax"/>
        </c:scaling>
        <c:delete val="0"/>
        <c:axPos val="b"/>
        <c:numFmt formatCode="m/d/yyyy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26308767"/>
        <c:crosses val="autoZero"/>
        <c:auto val="1"/>
        <c:lblAlgn val="ctr"/>
        <c:lblOffset val="100"/>
        <c:noMultiLvlLbl val="0"/>
      </c:catAx>
      <c:valAx>
        <c:axId val="2026308767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026307103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numRef>
              <c:f>Sheet1!$A$2:$A$7</c:f>
              <c:numCache>
                <c:formatCode>General</c:formatCode>
                <c:ptCount val="6"/>
                <c:pt idx="0">
                  <c:v>1</c:v>
                </c:pt>
                <c:pt idx="1">
                  <c:v>2</c:v>
                </c:pt>
                <c:pt idx="2">
                  <c:v>3</c:v>
                </c:pt>
                <c:pt idx="3">
                  <c:v>4</c:v>
                </c:pt>
                <c:pt idx="4">
                  <c:v>5</c:v>
                </c:pt>
                <c:pt idx="5">
                  <c:v>6</c:v>
                </c:pt>
              </c:numCache>
            </c:numRef>
          </c:cat>
          <c:val>
            <c:numRef>
              <c:f>Sheet1!$B$2:$B$7</c:f>
              <c:numCache>
                <c:formatCode>General</c:formatCode>
                <c:ptCount val="6"/>
                <c:pt idx="0">
                  <c:v>5</c:v>
                </c:pt>
                <c:pt idx="1">
                  <c:v>2</c:v>
                </c:pt>
                <c:pt idx="2">
                  <c:v>5</c:v>
                </c:pt>
                <c:pt idx="3">
                  <c:v>7</c:v>
                </c:pt>
                <c:pt idx="4">
                  <c:v>3</c:v>
                </c:pt>
                <c:pt idx="5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0AE-4631-94A5-2A65836FA20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881836559"/>
        <c:axId val="881813679"/>
      </c:barChart>
      <c:catAx>
        <c:axId val="8818365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1813679"/>
        <c:crosses val="autoZero"/>
        <c:auto val="1"/>
        <c:lblAlgn val="ctr"/>
        <c:lblOffset val="100"/>
        <c:noMultiLvlLbl val="0"/>
      </c:catAx>
      <c:valAx>
        <c:axId val="8818136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18365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Frequency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1-3</c:v>
                </c:pt>
                <c:pt idx="1">
                  <c:v>4-6</c:v>
                </c:pt>
                <c:pt idx="2">
                  <c:v>7-9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</c:v>
                </c:pt>
                <c:pt idx="1">
                  <c:v>2</c:v>
                </c:pt>
                <c:pt idx="2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B3-4F5B-BF64-202FB5BC665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overlap val="-27"/>
        <c:axId val="881836559"/>
        <c:axId val="881813679"/>
      </c:barChart>
      <c:catAx>
        <c:axId val="881836559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2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1813679"/>
        <c:crosses val="autoZero"/>
        <c:auto val="1"/>
        <c:lblAlgn val="ctr"/>
        <c:lblOffset val="100"/>
        <c:noMultiLvlLbl val="0"/>
      </c:catAx>
      <c:valAx>
        <c:axId val="881813679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881836559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28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8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62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317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8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BC5D7F-D5A3-45A9-99C4-913CF97614C3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EE27E38-E994-49A8-A126-795B46888E6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42458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Diagram: </a:t>
            </a:r>
            <a:r>
              <a:rPr lang="vi-VN" dirty="0"/>
              <a:t>Biểu đồ </a:t>
            </a:r>
          </a:p>
          <a:p>
            <a:r>
              <a:rPr lang="vi-VN" dirty="0" err="1"/>
              <a:t>Graph</a:t>
            </a:r>
            <a:r>
              <a:rPr lang="vi-VN" dirty="0"/>
              <a:t>: Đồ thị </a:t>
            </a:r>
          </a:p>
          <a:p>
            <a:r>
              <a:rPr lang="vi-VN" dirty="0" err="1"/>
              <a:t>Chart</a:t>
            </a:r>
            <a:r>
              <a:rPr lang="vi-VN" dirty="0"/>
              <a:t>: Biểu đồ </a:t>
            </a:r>
            <a:endParaRPr lang="en-US" dirty="0"/>
          </a:p>
          <a:p>
            <a:r>
              <a:rPr lang="en-US" dirty="0" err="1"/>
              <a:t>Gọi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graph </a:t>
            </a:r>
            <a:r>
              <a:rPr lang="en-US" dirty="0" err="1"/>
              <a:t>nếu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tất</a:t>
            </a:r>
            <a:r>
              <a:rPr lang="en-US" dirty="0"/>
              <a:t> </a:t>
            </a:r>
            <a:r>
              <a:rPr lang="en-US" dirty="0" err="1"/>
              <a:t>cả</a:t>
            </a:r>
            <a:r>
              <a:rPr lang="en-US" dirty="0"/>
              <a:t> </a:t>
            </a:r>
            <a:r>
              <a:rPr lang="en-US" dirty="0" err="1"/>
              <a:t>thông</a:t>
            </a:r>
            <a:r>
              <a:rPr lang="en-US" dirty="0"/>
              <a:t> tin </a:t>
            </a:r>
            <a:r>
              <a:rPr lang="en-US" dirty="0" err="1"/>
              <a:t>đo</a:t>
            </a:r>
            <a:r>
              <a:rPr lang="en-US" dirty="0"/>
              <a:t> </a:t>
            </a:r>
            <a:r>
              <a:rPr lang="en-US" dirty="0" err="1"/>
              <a:t>bằng</a:t>
            </a:r>
            <a:r>
              <a:rPr lang="en-US" dirty="0"/>
              <a:t> </a:t>
            </a:r>
            <a:r>
              <a:rPr lang="en-US" dirty="0" err="1"/>
              <a:t>trục</a:t>
            </a:r>
            <a:r>
              <a:rPr lang="en-US" dirty="0"/>
              <a:t> </a:t>
            </a:r>
            <a:r>
              <a:rPr lang="en-US" dirty="0" err="1"/>
              <a:t>dãy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E27E38-E994-49A8-A126-795B46888E69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02620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Candlestick chart</a:t>
            </a:r>
          </a:p>
          <a:p>
            <a:r>
              <a:rPr lang="vi-VN"/>
              <a:t>Biểu đồ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B813C-FFE0-4FEC-A990-FD7341976379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322870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Đồ thị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B813C-FFE0-4FEC-A990-FD7341976379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577200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Biểu đồ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B813C-FFE0-4FEC-A990-FD7341976379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4839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Biểu đồ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B813C-FFE0-4FEC-A990-FD7341976379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222076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Biểu đồ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B813C-FFE0-4FEC-A990-FD7341976379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612119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vi-VN"/>
              <a:t>Biểu đồ 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B813C-FFE0-4FEC-A990-FD7341976379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03606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28B813C-FFE0-4FEC-A990-FD7341976379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948484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Ảo</a:t>
            </a:r>
            <a:r>
              <a:rPr lang="en-US" dirty="0"/>
              <a:t> </a:t>
            </a:r>
            <a:r>
              <a:rPr lang="en-US" dirty="0" err="1"/>
              <a:t>giác</a:t>
            </a:r>
            <a:r>
              <a:rPr lang="en-US" dirty="0"/>
              <a:t> Scale Distortion (Forced Perspective): </a:t>
            </a:r>
            <a:r>
              <a:rPr lang="en-US" dirty="0" err="1"/>
              <a:t>Khiến</a:t>
            </a:r>
            <a:r>
              <a:rPr lang="en-US" dirty="0"/>
              <a:t> </a:t>
            </a:r>
            <a:r>
              <a:rPr lang="en-US" dirty="0" err="1"/>
              <a:t>miếng</a:t>
            </a:r>
            <a:r>
              <a:rPr lang="en-US" dirty="0"/>
              <a:t> bánh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 ở </a:t>
            </a:r>
            <a:r>
              <a:rPr lang="en-US" dirty="0" err="1"/>
              <a:t>dưới</a:t>
            </a:r>
            <a:r>
              <a:rPr lang="en-US" dirty="0"/>
              <a:t> </a:t>
            </a:r>
            <a:r>
              <a:rPr lang="en-US" dirty="0" err="1"/>
              <a:t>trông</a:t>
            </a:r>
            <a:r>
              <a:rPr lang="en-US" dirty="0"/>
              <a:t> </a:t>
            </a:r>
            <a:r>
              <a:rPr lang="en-US" dirty="0" err="1"/>
              <a:t>bự</a:t>
            </a:r>
            <a:r>
              <a:rPr lang="en-US" dirty="0"/>
              <a:t> </a:t>
            </a:r>
            <a:r>
              <a:rPr lang="en-US" dirty="0" err="1"/>
              <a:t>hơn</a:t>
            </a:r>
            <a:r>
              <a:rPr lang="en-US" dirty="0"/>
              <a:t> </a:t>
            </a:r>
            <a:r>
              <a:rPr lang="en-US" dirty="0" err="1"/>
              <a:t>phía</a:t>
            </a:r>
            <a:r>
              <a:rPr lang="en-US" dirty="0"/>
              <a:t> </a:t>
            </a:r>
            <a:r>
              <a:rPr lang="en-US" dirty="0" err="1"/>
              <a:t>trên</a:t>
            </a:r>
            <a:r>
              <a:rPr lang="en-US" dirty="0"/>
              <a:t> (xa </a:t>
            </a:r>
            <a:r>
              <a:rPr lang="en-US" dirty="0" err="1"/>
              <a:t>hơn</a:t>
            </a:r>
            <a:r>
              <a:rPr lang="en-US" dirty="0"/>
              <a:t>).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E27E38-E994-49A8-A126-795B46888E69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879452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Radar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E27E38-E994-49A8-A126-795B46888E69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498023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Parallel coordinates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E27E38-E994-49A8-A126-795B46888E69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46546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vi-VN" dirty="0"/>
              <a:t>Không dùng để thể hiện giá trị trực sự của các biến ban đầu. </a:t>
            </a:r>
            <a:endParaRPr lang="en-US" dirty="0"/>
          </a:p>
          <a:p>
            <a:pPr marL="171450" indent="-171450">
              <a:buFontTx/>
              <a:buChar char="-"/>
            </a:pPr>
            <a:r>
              <a:rPr lang="en-US" dirty="0" err="1"/>
              <a:t>Vẫn</a:t>
            </a:r>
            <a:r>
              <a:rPr lang="en-US" dirty="0"/>
              <a:t> </a:t>
            </a:r>
            <a:r>
              <a:rPr lang="en-US" dirty="0" err="1"/>
              <a:t>gọi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đồ</a:t>
            </a:r>
            <a:r>
              <a:rPr lang="en-US" dirty="0"/>
              <a:t> </a:t>
            </a:r>
            <a:r>
              <a:rPr lang="en-US" dirty="0" err="1"/>
              <a:t>thị</a:t>
            </a:r>
            <a:r>
              <a:rPr lang="en-US" dirty="0"/>
              <a:t>, </a:t>
            </a:r>
            <a:r>
              <a:rPr lang="en-US" dirty="0" err="1"/>
              <a:t>vì</a:t>
            </a:r>
            <a:r>
              <a:rPr lang="en-US" dirty="0"/>
              <a:t> </a:t>
            </a:r>
            <a:r>
              <a:rPr lang="en-US" dirty="0" err="1"/>
              <a:t>hai</a:t>
            </a:r>
            <a:r>
              <a:rPr lang="en-US" dirty="0"/>
              <a:t> </a:t>
            </a:r>
            <a:r>
              <a:rPr lang="en-US" dirty="0" err="1"/>
              <a:t>trục</a:t>
            </a:r>
            <a:r>
              <a:rPr lang="en-US" dirty="0"/>
              <a:t> </a:t>
            </a:r>
            <a:r>
              <a:rPr lang="en-US" dirty="0" err="1"/>
              <a:t>tọa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là</a:t>
            </a:r>
            <a:r>
              <a:rPr lang="en-US" dirty="0"/>
              <a:t> </a:t>
            </a:r>
            <a:r>
              <a:rPr lang="en-US" dirty="0" err="1"/>
              <a:t>dãy</a:t>
            </a:r>
            <a:r>
              <a:rPr lang="en-US" dirty="0"/>
              <a:t> </a:t>
            </a:r>
            <a:r>
              <a:rPr lang="en-US" dirty="0" err="1"/>
              <a:t>số</a:t>
            </a:r>
            <a:r>
              <a:rPr lang="en-US" dirty="0"/>
              <a:t> </a:t>
            </a:r>
            <a:r>
              <a:rPr lang="en-US" dirty="0" err="1"/>
              <a:t>liên</a:t>
            </a:r>
            <a:r>
              <a:rPr lang="en-US" dirty="0"/>
              <a:t> </a:t>
            </a:r>
            <a:r>
              <a:rPr lang="en-US" dirty="0" err="1"/>
              <a:t>tiếp</a:t>
            </a:r>
            <a:r>
              <a:rPr lang="en-US" dirty="0"/>
              <a:t>. </a:t>
            </a:r>
            <a:endParaRPr lang="vi-VN" dirty="0"/>
          </a:p>
          <a:p>
            <a:pPr marL="171450" indent="-171450">
              <a:buFontTx/>
              <a:buChar char="-"/>
            </a:pPr>
            <a:r>
              <a:rPr lang="vi-VN" dirty="0"/>
              <a:t>Thêm nhiều bước tính toán trước khi vẽ </a:t>
            </a:r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E27E38-E994-49A8-A126-795B46888E69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42273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71450" indent="-171450">
              <a:buFontTx/>
              <a:buChar char="-"/>
            </a:pPr>
            <a:r>
              <a:rPr lang="vi-VN" dirty="0"/>
              <a:t>Không dùng để thể hiện giá trị trực sự của các biến ban đầu. </a:t>
            </a:r>
          </a:p>
          <a:p>
            <a:pPr marL="171450" indent="-171450">
              <a:buFontTx/>
              <a:buChar char="-"/>
            </a:pPr>
            <a:r>
              <a:rPr lang="vi-VN" dirty="0"/>
              <a:t>Các cột dính liền </a:t>
            </a:r>
          </a:p>
          <a:p>
            <a:pPr marL="171450" indent="-171450">
              <a:buFontTx/>
              <a:buChar char="-"/>
            </a:pPr>
            <a:r>
              <a:rPr lang="vi-VN" dirty="0"/>
              <a:t>Thêm nhiều bước tính toán trước khi vẽ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E27E38-E994-49A8-A126-795B46888E69}" type="slidenum">
              <a:rPr lang="en-US" smtClean="0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0218086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/>
              <a:t>Khác</a:t>
            </a:r>
            <a:r>
              <a:rPr lang="en-US" dirty="0"/>
              <a:t> </a:t>
            </a:r>
            <a:r>
              <a:rPr lang="en-US" dirty="0" err="1"/>
              <a:t>với</a:t>
            </a:r>
            <a:r>
              <a:rPr lang="en-US" dirty="0"/>
              <a:t> histogram, heatmap </a:t>
            </a:r>
            <a:r>
              <a:rPr lang="en-US" dirty="0" err="1"/>
              <a:t>nhấn</a:t>
            </a:r>
            <a:r>
              <a:rPr lang="en-US" dirty="0"/>
              <a:t> </a:t>
            </a:r>
            <a:r>
              <a:rPr lang="en-US" dirty="0" err="1"/>
              <a:t>mạnh</a:t>
            </a:r>
            <a:r>
              <a:rPr lang="en-US" dirty="0"/>
              <a:t> </a:t>
            </a:r>
            <a:r>
              <a:rPr lang="en-US" dirty="0" err="1"/>
              <a:t>các</a:t>
            </a:r>
            <a:r>
              <a:rPr lang="en-US" dirty="0"/>
              <a:t> </a:t>
            </a:r>
            <a:r>
              <a:rPr lang="en-US" dirty="0" err="1"/>
              <a:t>vị</a:t>
            </a:r>
            <a:r>
              <a:rPr lang="en-US" dirty="0"/>
              <a:t> </a:t>
            </a:r>
            <a:r>
              <a:rPr lang="en-US" dirty="0" err="1"/>
              <a:t>trí</a:t>
            </a:r>
            <a:r>
              <a:rPr lang="en-US" dirty="0"/>
              <a:t> </a:t>
            </a:r>
            <a:r>
              <a:rPr lang="en-US" dirty="0" err="1"/>
              <a:t>có</a:t>
            </a:r>
            <a:r>
              <a:rPr lang="en-US" dirty="0"/>
              <a:t> </a:t>
            </a:r>
            <a:r>
              <a:rPr lang="en-US" dirty="0" err="1"/>
              <a:t>cường</a:t>
            </a:r>
            <a:r>
              <a:rPr lang="en-US" dirty="0"/>
              <a:t> </a:t>
            </a:r>
            <a:r>
              <a:rPr lang="en-US" dirty="0" err="1"/>
              <a:t>độ</a:t>
            </a:r>
            <a:r>
              <a:rPr lang="en-US" dirty="0"/>
              <a:t> </a:t>
            </a:r>
            <a:r>
              <a:rPr lang="en-US" dirty="0" err="1"/>
              <a:t>cao</a:t>
            </a:r>
            <a:r>
              <a:rPr lang="en-US" dirty="0"/>
              <a:t> </a:t>
            </a:r>
            <a:r>
              <a:rPr lang="en-US" dirty="0" err="1"/>
              <a:t>như</a:t>
            </a:r>
            <a:r>
              <a:rPr lang="en-US" dirty="0"/>
              <a:t> </a:t>
            </a:r>
            <a:r>
              <a:rPr lang="en-US" dirty="0" err="1"/>
              <a:t>một</a:t>
            </a:r>
            <a:r>
              <a:rPr lang="en-US" dirty="0"/>
              <a:t> </a:t>
            </a:r>
            <a:r>
              <a:rPr lang="en-US" dirty="0" err="1"/>
              <a:t>cách</a:t>
            </a:r>
            <a:r>
              <a:rPr lang="en-US" dirty="0"/>
              <a:t> </a:t>
            </a:r>
            <a:r>
              <a:rPr lang="en-US" dirty="0" err="1"/>
              <a:t>gây</a:t>
            </a:r>
            <a:r>
              <a:rPr lang="en-US" dirty="0"/>
              <a:t> </a:t>
            </a:r>
            <a:r>
              <a:rPr lang="en-US" dirty="0" err="1"/>
              <a:t>chú</a:t>
            </a:r>
            <a:r>
              <a:rPr lang="en-US" dirty="0"/>
              <a:t> ý </a:t>
            </a:r>
            <a:r>
              <a:rPr lang="en-US" dirty="0" err="1"/>
              <a:t>đến</a:t>
            </a:r>
            <a:r>
              <a:rPr lang="en-US" dirty="0"/>
              <a:t> </a:t>
            </a:r>
            <a:r>
              <a:rPr lang="en-US" dirty="0" err="1"/>
              <a:t>chúng</a:t>
            </a:r>
            <a:r>
              <a:rPr lang="en-US" dirty="0"/>
              <a:t>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EE27E38-E994-49A8-A126-795B46888E69}" type="slidenum">
              <a:rPr lang="en-US" smtClean="0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1417374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https://www.python-graph-gallery.com/heatmap/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D8D2F-7F84-4183-90C5-3F4F427671E7}" type="slidenum">
              <a:rPr lang="en-US" smtClean="0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071805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https://seaborn.pydata.org/generated/seaborn.heatmap.html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1DD8D2F-7F84-4183-90C5-3F4F427671E7}" type="slidenum">
              <a:rPr lang="en-US" smtClean="0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4852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C085D8-9B82-2A57-C402-85F05939BD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DCE4943-C112-0067-8D1F-0DA6FDCA3D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4F2DA4-D172-6FC2-D20E-72DA5266A9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52130-6901-4F64-92CC-1C485ED5255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50029DE-0FBD-949C-D1ED-D9B2FB56C6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6170B7-4F17-DD00-758B-E99AD8BC0E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B0796-5061-4E93-A825-62812CA43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02181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DA004D-8757-4BFC-0F16-79351B6C2E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A698EE-A1A0-1978-7964-A983F35359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EF4883-60D9-1C7C-EF99-A7D744B66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52130-6901-4F64-92CC-1C485ED5255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98D607-A293-9C26-57F3-0E5C35A372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998691-E52A-19D4-0FE7-B620B5CE6E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B0796-5061-4E93-A825-62812CA43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4353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43A09-BED5-97B0-4035-A3C39726CD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6A180DF-D990-2A9E-FD6A-F7B0244B5D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71F2295-984F-5F77-0FB5-4927E04A04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52130-6901-4F64-92CC-1C485ED5255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6B8761-FB3C-7419-9DEE-F85C71495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941B59-D165-5F74-CCE0-2F39953D31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B0796-5061-4E93-A825-62812CA43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3009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835EE-AAF3-1FF0-3EC5-4DBBA0F9C7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4A971D-34AC-4F1B-EC36-854225441C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0D3310-BCCF-0DA5-0BC0-FA6895B26F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B9E075-8C54-FF49-64D1-718ABEB3F1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52130-6901-4F64-92CC-1C485ED5255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7BF95B-1663-3422-6481-7226A1EC43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2C398D-09FE-AC02-92DB-897C5E502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B0796-5061-4E93-A825-62812CA43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2457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C478B9-5BF3-AA7C-EA5A-1E4E9CD79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ACC045-F5AD-B581-F85F-09DA43F4E5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B6A7DA9-EED9-BC28-EF5A-1C45D05D59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516285E-6763-2E95-774B-8FD762B8F5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0FAF6EF-8F22-CF28-DB5D-F4DA3A3524D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46B3EFE-C30B-5062-FFA1-012C48CF96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52130-6901-4F64-92CC-1C485ED5255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E8E2621-07EB-73CD-FE7E-311CC0989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6C1A3B-44AF-F7B6-5539-A16D2DCF8E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B0796-5061-4E93-A825-62812CA43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37741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C40F60-0036-15DD-0937-BB3E5BE42F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3A16EB-DEB4-6D80-5821-1E1FA4463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52130-6901-4F64-92CC-1C485ED5255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A57F8CA-9570-6BDD-39C0-3D7067C5A4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BCD6F3C-139E-7290-15F3-78B477A245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B0796-5061-4E93-A825-62812CA43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33960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19AA812-7309-FDD6-35EF-8B4379E824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52130-6901-4F64-92CC-1C485ED5255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C7C7D1C-3820-59CD-F1DA-F9B3530D26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8D89618-02C2-EA27-9672-94B9D35F8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B0796-5061-4E93-A825-62812CA43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702582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75E092-2462-322E-4A7F-15B556A5C7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8F130F-4287-B625-F9FF-8292D24F7BC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A002BEF-31C4-E151-D507-7DC7697F06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95ABE2-74A4-8515-5A11-56B04BAA8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52130-6901-4F64-92CC-1C485ED5255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1ED7E67-2196-8DC4-C1E7-8781AB868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3E0FD3D-AE3E-824D-D1D2-97CE84066D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B0796-5061-4E93-A825-62812CA43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9592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291E50-51B9-3E7B-D30F-3EFA06E3C8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315CAE3-EDEF-16C2-5B4D-76B8A1FD496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91ACB95-24B0-80B7-061D-CD7BCA5829F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6C40EA-5C0D-B16D-F2A4-6C76DDB8A68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52130-6901-4F64-92CC-1C485ED5255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BE443D-A5B8-3982-EF6A-9708642FFD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10AF74-DDA0-4899-66CA-9F00A82F21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B0796-5061-4E93-A825-62812CA43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750975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370306-EC94-C7F5-4992-B64E6088EB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4172DE8-13CD-98B4-2D20-079246F9A0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FB5440-8B3E-E611-47C4-D7239814D9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52130-6901-4F64-92CC-1C485ED5255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FAC5F4-6A0D-08CE-6A16-24F91754A1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767043-9FA6-66E8-C306-09B22180C5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B0796-5061-4E93-A825-62812CA43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31831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6CF6C3-F3CC-E6C1-7399-949004C8C92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460C6D-BC98-8AB9-DEAC-E6C5F85519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1955FDB-D85E-ACA7-891B-85C2A86EA1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F52130-6901-4F64-92CC-1C485ED5255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1A69CFF-EE7B-DA39-DDF8-048DBA8FC6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C6F9A66-B09D-0C46-38E5-787624DD0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6B0796-5061-4E93-A825-62812CA43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2928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FA083AA-2EFC-9F9A-609C-449DDCAE09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927DFA-B417-C216-8F69-41355DCD00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5317895-8A63-3304-EB70-EA7A6A01950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FF52130-6901-4F64-92CC-1C485ED52556}" type="datetimeFigureOut">
              <a:rPr lang="en-US" smtClean="0"/>
              <a:t>5/12/2026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C26133-C49F-4153-E1E1-554147E3B4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35706A-9213-BF72-B844-B55A40D39E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46B0796-5061-4E93-A825-62812CA4385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53797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antone.com/pantone-connect" TargetMode="External"/><Relationship Id="rId2" Type="http://schemas.openxmlformats.org/officeDocument/2006/relationships/hyperlink" Target="https://color.adobe.com/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hyperlink" Target="https://wearecolorblind.com/" TargetMode="Externa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sv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tmp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tmp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7.xml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tmp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tmp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0B107F-F2B6-3DE3-451C-0921C17EB71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noProof="0" dirty="0"/>
              <a:t>Day 4: Data visualization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2235A8-0717-2652-E3F1-90CF6A1460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noProof="0" dirty="0"/>
              <a:t>Lecturer: </a:t>
            </a:r>
            <a:r>
              <a:rPr lang="en-US" noProof="0" dirty="0" err="1"/>
              <a:t>Msc</a:t>
            </a:r>
            <a:r>
              <a:rPr lang="en-US" noProof="0" dirty="0"/>
              <a:t>. Minh Tan Le</a:t>
            </a:r>
          </a:p>
        </p:txBody>
      </p:sp>
    </p:spTree>
    <p:extLst>
      <p:ext uri="{BB962C8B-B14F-4D97-AF65-F5344CB8AC3E}">
        <p14:creationId xmlns:p14="http://schemas.microsoft.com/office/powerpoint/2010/main" val="15607255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49C69-AF93-6336-0764-2FF2AF10B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Contents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AC8552-2187-47B9-C1E8-1444825C6F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71500" indent="-571500">
              <a:buFont typeface="+mj-lt"/>
              <a:buAutoNum type="romanUcPeriod"/>
            </a:pPr>
            <a:r>
              <a:rPr lang="en-US" noProof="0" dirty="0"/>
              <a:t>Diagram types</a:t>
            </a:r>
          </a:p>
          <a:p>
            <a:pPr marL="571500" indent="-571500">
              <a:buFont typeface="+mj-lt"/>
              <a:buAutoNum type="romanUcPeriod"/>
            </a:pPr>
            <a:r>
              <a:rPr lang="en-US" noProof="0" dirty="0"/>
              <a:t>Colors &amp; symbols </a:t>
            </a:r>
          </a:p>
          <a:p>
            <a:pPr marL="571500" indent="-571500">
              <a:buFont typeface="+mj-lt"/>
              <a:buAutoNum type="romanUcPeriod"/>
            </a:pPr>
            <a:r>
              <a:rPr lang="en-US" noProof="0" dirty="0"/>
              <a:t>Advanced diagrams </a:t>
            </a:r>
          </a:p>
          <a:p>
            <a:pPr lvl="1"/>
            <a:r>
              <a:rPr lang="en-US" noProof="0" dirty="0"/>
              <a:t>Histogram </a:t>
            </a:r>
          </a:p>
          <a:p>
            <a:pPr lvl="1"/>
            <a:r>
              <a:rPr lang="en-US" noProof="0" dirty="0"/>
              <a:t>Heatmap </a:t>
            </a:r>
          </a:p>
          <a:p>
            <a:pPr lvl="1"/>
            <a:r>
              <a:rPr lang="en-US" noProof="0" dirty="0">
                <a:solidFill>
                  <a:schemeClr val="bg1">
                    <a:lumMod val="50000"/>
                  </a:schemeClr>
                </a:solidFill>
              </a:rPr>
              <a:t>Box diagram &amp; candlestick chart </a:t>
            </a:r>
          </a:p>
          <a:p>
            <a:pPr lvl="1"/>
            <a:r>
              <a:rPr lang="en-US" noProof="0" dirty="0">
                <a:solidFill>
                  <a:schemeClr val="bg1">
                    <a:lumMod val="50000"/>
                  </a:schemeClr>
                </a:solidFill>
              </a:rPr>
              <a:t>Network diagram </a:t>
            </a:r>
          </a:p>
        </p:txBody>
      </p:sp>
    </p:spTree>
    <p:extLst>
      <p:ext uri="{BB962C8B-B14F-4D97-AF65-F5344CB8AC3E}">
        <p14:creationId xmlns:p14="http://schemas.microsoft.com/office/powerpoint/2010/main" val="1406514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2B689AB-C105-2EEF-B84C-4785DB84CF3F}"/>
              </a:ext>
            </a:extLst>
          </p:cNvPr>
          <p:cNvSpPr/>
          <p:nvPr/>
        </p:nvSpPr>
        <p:spPr>
          <a:xfrm>
            <a:off x="886080" y="2676878"/>
            <a:ext cx="10419840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5400" b="1" cap="none" spc="0" noProof="0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Name some of c</a:t>
            </a:r>
            <a:r>
              <a:rPr lang="en-US" sz="5400" b="1" noProof="0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ommon diagrams</a:t>
            </a:r>
            <a:endParaRPr lang="en-US" sz="5400" b="1" cap="none" spc="0" noProof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4435150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017F02-81E3-C2C4-3C4A-5F622367DD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I. Diagram types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6097C9-90C4-6968-DDC4-DB59E4CA683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noProof="0" dirty="0"/>
              <a:t>Diagrams: Demonstrate of information using visual methods. </a:t>
            </a:r>
          </a:p>
          <a:p>
            <a:pPr lvl="1">
              <a:lnSpc>
                <a:spcPct val="150000"/>
              </a:lnSpc>
            </a:pPr>
            <a:r>
              <a:rPr lang="en-US" noProof="0" dirty="0"/>
              <a:t>Graph: Visualizing without data preprocessing (</a:t>
            </a:r>
            <a:r>
              <a:rPr lang="en-US" noProof="0" dirty="0" err="1"/>
              <a:t>tranformation</a:t>
            </a:r>
            <a:r>
              <a:rPr lang="en-US" noProof="0" dirty="0"/>
              <a:t>) </a:t>
            </a:r>
          </a:p>
          <a:p>
            <a:pPr lvl="1">
              <a:lnSpc>
                <a:spcPct val="150000"/>
              </a:lnSpc>
            </a:pPr>
            <a:r>
              <a:rPr lang="en-US" noProof="0" dirty="0"/>
              <a:t>Chart: Visualizing in an abstract way</a:t>
            </a:r>
            <a:r>
              <a:rPr lang="en-US" dirty="0"/>
              <a:t> </a:t>
            </a:r>
            <a:endParaRPr lang="en-US" noProof="0" dirty="0"/>
          </a:p>
          <a:p>
            <a:pPr>
              <a:lnSpc>
                <a:spcPct val="150000"/>
              </a:lnSpc>
            </a:pPr>
            <a:r>
              <a:rPr lang="en-US" noProof="0" dirty="0"/>
              <a:t>Diagram = graph + chart. </a:t>
            </a:r>
          </a:p>
        </p:txBody>
      </p:sp>
    </p:spTree>
    <p:extLst>
      <p:ext uri="{BB962C8B-B14F-4D97-AF65-F5344CB8AC3E}">
        <p14:creationId xmlns:p14="http://schemas.microsoft.com/office/powerpoint/2010/main" val="812278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3B17EA6-297A-283C-D22A-CF0B6445701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3108" y="264259"/>
            <a:ext cx="10965783" cy="6329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9984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964CCD7-193E-2FCE-940C-A6DE72A946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9863" y="0"/>
            <a:ext cx="6792273" cy="6735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8144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676A896-75D7-060C-5362-821616E814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8691" y="442192"/>
            <a:ext cx="10274617" cy="59736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15894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8187B4F5-641A-2375-A148-6B2AE87AEA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7510" y="265044"/>
            <a:ext cx="9876980" cy="63279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3873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AE5CA1D-C7D3-F264-370C-08D7363DC6A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4644" y="245406"/>
            <a:ext cx="11262712" cy="6367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787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3F24A0F8-030F-C415-6783-4DD67A8073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981985669"/>
              </p:ext>
            </p:extLst>
          </p:nvPr>
        </p:nvGraphicFramePr>
        <p:xfrm>
          <a:off x="1407551" y="342248"/>
          <a:ext cx="9376898" cy="617350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1458184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3F24A0F8-030F-C415-6783-4DD67A8073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615550780"/>
              </p:ext>
            </p:extLst>
          </p:nvPr>
        </p:nvGraphicFramePr>
        <p:xfrm>
          <a:off x="577557" y="624807"/>
          <a:ext cx="6878320" cy="560838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F060B4AA-763E-BA43-10FE-80611C803FDA}"/>
              </a:ext>
            </a:extLst>
          </p:cNvPr>
          <p:cNvSpPr txBox="1"/>
          <p:nvPr/>
        </p:nvSpPr>
        <p:spPr>
          <a:xfrm>
            <a:off x="7906043" y="942535"/>
            <a:ext cx="3967089" cy="22467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Tx/>
              <a:buChar char="-"/>
            </a:pPr>
            <a:r>
              <a:rPr lang="en-US" sz="2800" noProof="0" dirty="0"/>
              <a:t>Title </a:t>
            </a:r>
          </a:p>
          <a:p>
            <a:pPr marL="285750" indent="-285750">
              <a:buFontTx/>
              <a:buChar char="-"/>
            </a:pPr>
            <a:r>
              <a:rPr lang="en-US" sz="2800" noProof="0" dirty="0"/>
              <a:t>Labels </a:t>
            </a:r>
          </a:p>
          <a:p>
            <a:pPr marL="285750" indent="-285750">
              <a:buFontTx/>
              <a:buChar char="-"/>
            </a:pPr>
            <a:r>
              <a:rPr lang="en-US" sz="2800" noProof="0" dirty="0"/>
              <a:t>Legends </a:t>
            </a:r>
          </a:p>
          <a:p>
            <a:pPr marL="285750" indent="-285750">
              <a:buFontTx/>
              <a:buChar char="-"/>
            </a:pPr>
            <a:r>
              <a:rPr lang="en-US" sz="2800" noProof="0" dirty="0">
                <a:solidFill>
                  <a:schemeClr val="bg1">
                    <a:lumMod val="50000"/>
                  </a:schemeClr>
                </a:solidFill>
              </a:rPr>
              <a:t>Axis (axes) </a:t>
            </a:r>
          </a:p>
          <a:p>
            <a:pPr marL="285750" indent="-285750">
              <a:buFontTx/>
              <a:buChar char="-"/>
            </a:pPr>
            <a:r>
              <a:rPr lang="en-US" sz="2800" noProof="0" dirty="0">
                <a:solidFill>
                  <a:schemeClr val="bg1">
                    <a:lumMod val="50000"/>
                  </a:schemeClr>
                </a:solidFill>
              </a:rPr>
              <a:t>Grid </a:t>
            </a:r>
          </a:p>
        </p:txBody>
      </p:sp>
    </p:spTree>
    <p:extLst>
      <p:ext uri="{BB962C8B-B14F-4D97-AF65-F5344CB8AC3E}">
        <p14:creationId xmlns:p14="http://schemas.microsoft.com/office/powerpoint/2010/main" val="335958924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61925C92-4553-3091-8D41-68BC3A3C9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9390536"/>
              </p:ext>
            </p:extLst>
          </p:nvPr>
        </p:nvGraphicFramePr>
        <p:xfrm>
          <a:off x="2874498" y="2133600"/>
          <a:ext cx="6443004" cy="2590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998453">
                  <a:extLst>
                    <a:ext uri="{9D8B030D-6E8A-4147-A177-3AD203B41FA5}">
                      <a16:colId xmlns:a16="http://schemas.microsoft.com/office/drawing/2014/main" val="1910835835"/>
                    </a:ext>
                  </a:extLst>
                </a:gridCol>
                <a:gridCol w="2444551">
                  <a:extLst>
                    <a:ext uri="{9D8B030D-6E8A-4147-A177-3AD203B41FA5}">
                      <a16:colId xmlns:a16="http://schemas.microsoft.com/office/drawing/2014/main" val="311137191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noProof="0" dirty="0"/>
                        <a:t>Chuyên </a:t>
                      </a:r>
                      <a:r>
                        <a:rPr lang="en-US" sz="2800" noProof="0" dirty="0" err="1"/>
                        <a:t>ngành</a:t>
                      </a:r>
                      <a:r>
                        <a:rPr lang="en-US" sz="2800" noProof="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noProof="0" dirty="0" err="1"/>
                        <a:t>Tỉ</a:t>
                      </a:r>
                      <a:r>
                        <a:rPr lang="en-US" sz="2800" noProof="0" dirty="0"/>
                        <a:t> </a:t>
                      </a:r>
                      <a:r>
                        <a:rPr lang="en-US" sz="2800" noProof="0" dirty="0" err="1"/>
                        <a:t>lệ</a:t>
                      </a:r>
                      <a:r>
                        <a:rPr lang="en-US" sz="2800" noProof="0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1158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noProof="0" dirty="0"/>
                        <a:t>Công </a:t>
                      </a:r>
                      <a:r>
                        <a:rPr lang="en-US" sz="2800" noProof="0" dirty="0" err="1"/>
                        <a:t>nghệ</a:t>
                      </a:r>
                      <a:r>
                        <a:rPr lang="en-US" sz="2800" noProof="0" dirty="0"/>
                        <a:t> </a:t>
                      </a:r>
                      <a:r>
                        <a:rPr lang="en-US" sz="2800" noProof="0" dirty="0" err="1"/>
                        <a:t>phần</a:t>
                      </a:r>
                      <a:r>
                        <a:rPr lang="en-US" sz="2800" noProof="0" dirty="0"/>
                        <a:t> </a:t>
                      </a:r>
                      <a:r>
                        <a:rPr lang="en-US" sz="2800" noProof="0" dirty="0" err="1"/>
                        <a:t>mềm</a:t>
                      </a:r>
                      <a:r>
                        <a:rPr lang="en-US" sz="2800" noProof="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noProof="0" dirty="0"/>
                        <a:t>40%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3961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noProof="0" dirty="0" err="1"/>
                        <a:t>Hệ</a:t>
                      </a:r>
                      <a:r>
                        <a:rPr lang="en-US" sz="2800" noProof="0" dirty="0"/>
                        <a:t> </a:t>
                      </a:r>
                      <a:r>
                        <a:rPr lang="en-US" sz="2800" noProof="0" dirty="0" err="1"/>
                        <a:t>thống</a:t>
                      </a:r>
                      <a:r>
                        <a:rPr lang="en-US" sz="2800" noProof="0" dirty="0"/>
                        <a:t> </a:t>
                      </a:r>
                      <a:r>
                        <a:rPr lang="en-US" sz="2800" noProof="0" dirty="0" err="1"/>
                        <a:t>thông</a:t>
                      </a:r>
                      <a:r>
                        <a:rPr lang="en-US" sz="2800" noProof="0" dirty="0"/>
                        <a:t> tin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noProof="0" dirty="0"/>
                        <a:t>30%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7330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noProof="0" dirty="0" err="1"/>
                        <a:t>Mạng</a:t>
                      </a:r>
                      <a:r>
                        <a:rPr lang="en-US" sz="2800" noProof="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noProof="0" dirty="0"/>
                        <a:t>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997005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2800" noProof="0" dirty="0"/>
                        <a:t>Trí </a:t>
                      </a:r>
                      <a:r>
                        <a:rPr lang="en-US" sz="2800" noProof="0" dirty="0" err="1"/>
                        <a:t>tuệ</a:t>
                      </a:r>
                      <a:r>
                        <a:rPr lang="en-US" sz="2800" noProof="0" dirty="0"/>
                        <a:t> </a:t>
                      </a:r>
                      <a:r>
                        <a:rPr lang="en-US" sz="2800" noProof="0" dirty="0" err="1"/>
                        <a:t>nhân</a:t>
                      </a:r>
                      <a:r>
                        <a:rPr lang="en-US" sz="2800" noProof="0" dirty="0"/>
                        <a:t> </a:t>
                      </a:r>
                      <a:r>
                        <a:rPr lang="en-US" sz="2800" noProof="0" dirty="0" err="1"/>
                        <a:t>tạo</a:t>
                      </a:r>
                      <a:r>
                        <a:rPr lang="en-US" sz="2800" noProof="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noProof="0" dirty="0"/>
                        <a:t>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19703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46060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61925C92-4553-3091-8D41-68BC3A3C912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83836915"/>
              </p:ext>
            </p:extLst>
          </p:nvPr>
        </p:nvGraphicFramePr>
        <p:xfrm>
          <a:off x="267283" y="1883714"/>
          <a:ext cx="4797084" cy="2365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4024">
                  <a:extLst>
                    <a:ext uri="{9D8B030D-6E8A-4147-A177-3AD203B41FA5}">
                      <a16:colId xmlns:a16="http://schemas.microsoft.com/office/drawing/2014/main" val="1910835835"/>
                    </a:ext>
                  </a:extLst>
                </a:gridCol>
                <a:gridCol w="1593060">
                  <a:extLst>
                    <a:ext uri="{9D8B030D-6E8A-4147-A177-3AD203B41FA5}">
                      <a16:colId xmlns:a16="http://schemas.microsoft.com/office/drawing/2014/main" val="3111371913"/>
                    </a:ext>
                  </a:extLst>
                </a:gridCol>
              </a:tblGrid>
              <a:tr h="473104">
                <a:tc>
                  <a:txBody>
                    <a:bodyPr/>
                    <a:lstStyle/>
                    <a:p>
                      <a:pPr algn="ctr"/>
                      <a:r>
                        <a:rPr lang="en-US" sz="2400" noProof="0" dirty="0"/>
                        <a:t>Chuyên </a:t>
                      </a:r>
                      <a:r>
                        <a:rPr lang="en-US" sz="2400" noProof="0" dirty="0" err="1"/>
                        <a:t>ngành</a:t>
                      </a:r>
                      <a:r>
                        <a:rPr lang="en-US" sz="2400" noProof="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noProof="0" dirty="0" err="1"/>
                        <a:t>Tỉ</a:t>
                      </a:r>
                      <a:r>
                        <a:rPr lang="en-US" sz="2400" noProof="0" dirty="0"/>
                        <a:t> </a:t>
                      </a:r>
                      <a:r>
                        <a:rPr lang="en-US" sz="2400" noProof="0" dirty="0" err="1"/>
                        <a:t>lệ</a:t>
                      </a:r>
                      <a:r>
                        <a:rPr lang="en-US" sz="2400" noProof="0" dirty="0"/>
                        <a:t>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115817"/>
                  </a:ext>
                </a:extLst>
              </a:tr>
              <a:tr h="473104">
                <a:tc>
                  <a:txBody>
                    <a:bodyPr/>
                    <a:lstStyle/>
                    <a:p>
                      <a:r>
                        <a:rPr lang="en-US" sz="2400" noProof="0" dirty="0"/>
                        <a:t>Công </a:t>
                      </a:r>
                      <a:r>
                        <a:rPr lang="en-US" sz="2400" noProof="0" dirty="0" err="1"/>
                        <a:t>nghệ</a:t>
                      </a:r>
                      <a:r>
                        <a:rPr lang="en-US" sz="2400" noProof="0" dirty="0"/>
                        <a:t> </a:t>
                      </a:r>
                      <a:r>
                        <a:rPr lang="en-US" sz="2400" noProof="0" dirty="0" err="1"/>
                        <a:t>phần</a:t>
                      </a:r>
                      <a:r>
                        <a:rPr lang="en-US" sz="2400" noProof="0" dirty="0"/>
                        <a:t> </a:t>
                      </a:r>
                      <a:r>
                        <a:rPr lang="en-US" sz="2400" noProof="0" dirty="0" err="1"/>
                        <a:t>mềm</a:t>
                      </a:r>
                      <a:r>
                        <a:rPr lang="en-US" sz="2400" noProof="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noProof="0" dirty="0"/>
                        <a:t>40%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93961389"/>
                  </a:ext>
                </a:extLst>
              </a:tr>
              <a:tr h="473104">
                <a:tc>
                  <a:txBody>
                    <a:bodyPr/>
                    <a:lstStyle/>
                    <a:p>
                      <a:r>
                        <a:rPr lang="en-US" sz="2400" noProof="0" dirty="0" err="1"/>
                        <a:t>Hệ</a:t>
                      </a:r>
                      <a:r>
                        <a:rPr lang="en-US" sz="2400" noProof="0" dirty="0"/>
                        <a:t> </a:t>
                      </a:r>
                      <a:r>
                        <a:rPr lang="en-US" sz="2400" noProof="0" dirty="0" err="1"/>
                        <a:t>thống</a:t>
                      </a:r>
                      <a:r>
                        <a:rPr lang="en-US" sz="2400" noProof="0" dirty="0"/>
                        <a:t> </a:t>
                      </a:r>
                      <a:r>
                        <a:rPr lang="en-US" sz="2400" noProof="0" dirty="0" err="1"/>
                        <a:t>thông</a:t>
                      </a:r>
                      <a:r>
                        <a:rPr lang="en-US" sz="2400" noProof="0" dirty="0"/>
                        <a:t> tin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noProof="0" dirty="0"/>
                        <a:t>30% 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40733025"/>
                  </a:ext>
                </a:extLst>
              </a:tr>
              <a:tr h="473104">
                <a:tc>
                  <a:txBody>
                    <a:bodyPr/>
                    <a:lstStyle/>
                    <a:p>
                      <a:r>
                        <a:rPr lang="en-US" sz="2400" noProof="0" dirty="0" err="1"/>
                        <a:t>Mạng</a:t>
                      </a:r>
                      <a:r>
                        <a:rPr lang="en-US" sz="2400" noProof="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noProof="0" dirty="0"/>
                        <a:t>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99970050"/>
                  </a:ext>
                </a:extLst>
              </a:tr>
              <a:tr h="473104">
                <a:tc>
                  <a:txBody>
                    <a:bodyPr/>
                    <a:lstStyle/>
                    <a:p>
                      <a:r>
                        <a:rPr lang="en-US" sz="2400" noProof="0" dirty="0"/>
                        <a:t>Trí </a:t>
                      </a:r>
                      <a:r>
                        <a:rPr lang="en-US" sz="2400" noProof="0" dirty="0" err="1"/>
                        <a:t>tuệ</a:t>
                      </a:r>
                      <a:r>
                        <a:rPr lang="en-US" sz="2400" noProof="0" dirty="0"/>
                        <a:t> </a:t>
                      </a:r>
                      <a:r>
                        <a:rPr lang="en-US" sz="2400" noProof="0" dirty="0" err="1"/>
                        <a:t>nhân</a:t>
                      </a:r>
                      <a:r>
                        <a:rPr lang="en-US" sz="2400" noProof="0" dirty="0"/>
                        <a:t> </a:t>
                      </a:r>
                      <a:r>
                        <a:rPr lang="en-US" sz="2400" noProof="0" dirty="0" err="1"/>
                        <a:t>tạo</a:t>
                      </a:r>
                      <a:r>
                        <a:rPr lang="en-US" sz="2400" noProof="0" dirty="0"/>
                        <a:t>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400" noProof="0" dirty="0"/>
                        <a:t>15%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21970375"/>
                  </a:ext>
                </a:extLst>
              </a:tr>
            </a:tbl>
          </a:graphicData>
        </a:graphic>
      </p:graphicFrame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6889A71E-705B-113C-CB37-F8EFAFEBE57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97084267"/>
              </p:ext>
            </p:extLst>
          </p:nvPr>
        </p:nvGraphicFramePr>
        <p:xfrm>
          <a:off x="5098757" y="945892"/>
          <a:ext cx="7051040" cy="49287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66157653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C4F3B5-E983-0EFD-DF88-264BA80450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BF6DAB2D-C1CE-44A2-8F41-17AE9FAEB70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55171546"/>
              </p:ext>
            </p:extLst>
          </p:nvPr>
        </p:nvGraphicFramePr>
        <p:xfrm>
          <a:off x="191907" y="964601"/>
          <a:ext cx="5590707" cy="49287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73435C9E-94A4-5B19-410B-12A43D696FD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59640568"/>
              </p:ext>
            </p:extLst>
          </p:nvPr>
        </p:nvGraphicFramePr>
        <p:xfrm>
          <a:off x="5946617" y="964600"/>
          <a:ext cx="5590707" cy="492879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406448424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8FBAD8A7-75EF-4334-C511-348F941300B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2308128"/>
              </p:ext>
            </p:extLst>
          </p:nvPr>
        </p:nvGraphicFramePr>
        <p:xfrm>
          <a:off x="2032000" y="719666"/>
          <a:ext cx="8128000" cy="541866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9514801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51F10EF-45E8-21C2-7CB1-0E0D0D084F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759"/>
          <a:stretch/>
        </p:blipFill>
        <p:spPr bwMode="auto">
          <a:xfrm>
            <a:off x="2826727" y="0"/>
            <a:ext cx="6538546" cy="6731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372637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51F10EF-45E8-21C2-7CB1-0E0D0D084F0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759"/>
          <a:stretch/>
        </p:blipFill>
        <p:spPr bwMode="auto">
          <a:xfrm>
            <a:off x="0" y="0"/>
            <a:ext cx="6538546" cy="67313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31AD2ABA-0FCE-C284-A077-6E008670972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2609" y="806548"/>
            <a:ext cx="5653454" cy="5653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525182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B2C371-FA1C-E1BF-4A31-485956F4C9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II. Colors &amp; symbols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CF5AC8-C829-039C-F9D0-545F46DCA9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lnSpc>
                <a:spcPct val="150000"/>
              </a:lnSpc>
              <a:buNone/>
            </a:pPr>
            <a:r>
              <a:rPr lang="en-US" sz="3200" noProof="0" dirty="0"/>
              <a:t>Use colors to: </a:t>
            </a:r>
          </a:p>
          <a:p>
            <a:pPr lvl="1">
              <a:lnSpc>
                <a:spcPct val="150000"/>
              </a:lnSpc>
            </a:pPr>
            <a:r>
              <a:rPr lang="en-US" sz="2800" noProof="0" dirty="0"/>
              <a:t>Classify labels </a:t>
            </a:r>
          </a:p>
          <a:p>
            <a:pPr lvl="1">
              <a:lnSpc>
                <a:spcPct val="150000"/>
              </a:lnSpc>
            </a:pPr>
            <a:r>
              <a:rPr lang="en-US" sz="2800" noProof="0" dirty="0"/>
              <a:t>Demonstrate values abstractly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sz="3200" noProof="0" dirty="0"/>
              <a:t>Use symbols to: </a:t>
            </a:r>
          </a:p>
          <a:p>
            <a:pPr lvl="1">
              <a:lnSpc>
                <a:spcPct val="150000"/>
              </a:lnSpc>
            </a:pPr>
            <a:r>
              <a:rPr lang="en-US" sz="2800" noProof="0" dirty="0"/>
              <a:t>Classify labels </a:t>
            </a:r>
          </a:p>
        </p:txBody>
      </p:sp>
    </p:spTree>
    <p:extLst>
      <p:ext uri="{BB962C8B-B14F-4D97-AF65-F5344CB8AC3E}">
        <p14:creationId xmlns:p14="http://schemas.microsoft.com/office/powerpoint/2010/main" val="4005778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8B3C8BD-0EEC-4BBA-B7A3-FDCDE61B7007}"/>
              </a:ext>
            </a:extLst>
          </p:cNvPr>
          <p:cNvSpPr/>
          <p:nvPr/>
        </p:nvSpPr>
        <p:spPr>
          <a:xfrm>
            <a:off x="4900246" y="362242"/>
            <a:ext cx="2391507" cy="7596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noProof="0" dirty="0"/>
              <a:t>Luminosity</a:t>
            </a: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065F66E4-1CDE-6EA7-50FD-51E3457B3524}"/>
              </a:ext>
            </a:extLst>
          </p:cNvPr>
          <p:cNvSpPr/>
          <p:nvPr/>
        </p:nvSpPr>
        <p:spPr>
          <a:xfrm>
            <a:off x="2025747" y="1600195"/>
            <a:ext cx="1406770" cy="140677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56E8E1B-B577-D1CC-C6E4-A41C83C25D33}"/>
              </a:ext>
            </a:extLst>
          </p:cNvPr>
          <p:cNvSpPr/>
          <p:nvPr/>
        </p:nvSpPr>
        <p:spPr>
          <a:xfrm>
            <a:off x="4261338" y="1600195"/>
            <a:ext cx="1406770" cy="1406770"/>
          </a:xfrm>
          <a:prstGeom prst="ellipse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F8F2E7EC-9BF7-A3BC-BB02-4BAFE81F7BEE}"/>
              </a:ext>
            </a:extLst>
          </p:cNvPr>
          <p:cNvSpPr/>
          <p:nvPr/>
        </p:nvSpPr>
        <p:spPr>
          <a:xfrm>
            <a:off x="6496930" y="1600195"/>
            <a:ext cx="1406770" cy="140677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EE8948D-2882-E6CD-1EB1-3A1F085C108E}"/>
              </a:ext>
            </a:extLst>
          </p:cNvPr>
          <p:cNvSpPr/>
          <p:nvPr/>
        </p:nvSpPr>
        <p:spPr>
          <a:xfrm>
            <a:off x="8732522" y="1600195"/>
            <a:ext cx="1406770" cy="1406770"/>
          </a:xfrm>
          <a:prstGeom prst="ellipse">
            <a:avLst/>
          </a:prstGeom>
          <a:solidFill>
            <a:schemeClr val="accent6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A10E2F09-0ADF-A889-F614-A447838D9530}"/>
              </a:ext>
            </a:extLst>
          </p:cNvPr>
          <p:cNvSpPr/>
          <p:nvPr/>
        </p:nvSpPr>
        <p:spPr>
          <a:xfrm>
            <a:off x="2025747" y="3792413"/>
            <a:ext cx="1406770" cy="1406770"/>
          </a:xfrm>
          <a:prstGeom prst="ellipse">
            <a:avLst/>
          </a:prstGeom>
          <a:solidFill>
            <a:schemeClr val="accent2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EC136DB5-E685-13A4-007C-FC5CC471D84F}"/>
              </a:ext>
            </a:extLst>
          </p:cNvPr>
          <p:cNvSpPr/>
          <p:nvPr/>
        </p:nvSpPr>
        <p:spPr>
          <a:xfrm>
            <a:off x="4261338" y="3792413"/>
            <a:ext cx="1406770" cy="1406770"/>
          </a:xfrm>
          <a:prstGeom prst="ellipse">
            <a:avLst/>
          </a:prstGeom>
          <a:solidFill>
            <a:schemeClr val="accent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9FE8BE77-0295-D1DF-B827-1348F8C42050}"/>
              </a:ext>
            </a:extLst>
          </p:cNvPr>
          <p:cNvSpPr/>
          <p:nvPr/>
        </p:nvSpPr>
        <p:spPr>
          <a:xfrm>
            <a:off x="6496929" y="3792413"/>
            <a:ext cx="1406770" cy="1406770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0E48E66-73BF-3F6E-9B3A-C826325BB9E1}"/>
              </a:ext>
            </a:extLst>
          </p:cNvPr>
          <p:cNvSpPr/>
          <p:nvPr/>
        </p:nvSpPr>
        <p:spPr>
          <a:xfrm>
            <a:off x="8732520" y="3792413"/>
            <a:ext cx="1406770" cy="1406770"/>
          </a:xfrm>
          <a:prstGeom prst="ellips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67CA384-5166-D7F5-B11C-AB35B1757FD0}"/>
              </a:ext>
            </a:extLst>
          </p:cNvPr>
          <p:cNvSpPr txBox="1"/>
          <p:nvPr/>
        </p:nvSpPr>
        <p:spPr>
          <a:xfrm>
            <a:off x="1842868" y="3117159"/>
            <a:ext cx="17725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noProof="0" dirty="0"/>
              <a:t>0%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674C462F-6521-96D4-AF71-A6C30ED0F617}"/>
              </a:ext>
            </a:extLst>
          </p:cNvPr>
          <p:cNvSpPr txBox="1"/>
          <p:nvPr/>
        </p:nvSpPr>
        <p:spPr>
          <a:xfrm>
            <a:off x="4078458" y="3116945"/>
            <a:ext cx="17725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noProof="0" dirty="0"/>
              <a:t>30%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E34ED2F-67CE-622B-03F1-354F4ACADDD3}"/>
              </a:ext>
            </a:extLst>
          </p:cNvPr>
          <p:cNvSpPr txBox="1"/>
          <p:nvPr/>
        </p:nvSpPr>
        <p:spPr>
          <a:xfrm>
            <a:off x="6314049" y="3132932"/>
            <a:ext cx="17725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noProof="0" dirty="0"/>
              <a:t>70%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B1ABAC7B-42A7-67CA-3450-25E091F9A91D}"/>
              </a:ext>
            </a:extLst>
          </p:cNvPr>
          <p:cNvSpPr txBox="1"/>
          <p:nvPr/>
        </p:nvSpPr>
        <p:spPr>
          <a:xfrm>
            <a:off x="8549639" y="3129575"/>
            <a:ext cx="1772529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noProof="0" dirty="0"/>
              <a:t>100%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7DFA902-9941-3916-1441-DFF2A078D9B3}"/>
              </a:ext>
            </a:extLst>
          </p:cNvPr>
          <p:cNvSpPr/>
          <p:nvPr/>
        </p:nvSpPr>
        <p:spPr>
          <a:xfrm>
            <a:off x="4900246" y="5738871"/>
            <a:ext cx="2391507" cy="759655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noProof="0" dirty="0"/>
              <a:t>Hue</a:t>
            </a:r>
          </a:p>
        </p:txBody>
      </p:sp>
    </p:spTree>
    <p:extLst>
      <p:ext uri="{BB962C8B-B14F-4D97-AF65-F5344CB8AC3E}">
        <p14:creationId xmlns:p14="http://schemas.microsoft.com/office/powerpoint/2010/main" val="26346990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D8633-201C-956B-8134-9F0A375B3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Color palette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B15219-21DC-EE80-D661-95CA78A501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noProof="0" dirty="0">
                <a:hlinkClick r:id="rId2"/>
              </a:rPr>
              <a:t>https://color.adobe.com/</a:t>
            </a:r>
            <a:r>
              <a:rPr lang="en-US" noProof="0" dirty="0"/>
              <a:t> </a:t>
            </a:r>
          </a:p>
          <a:p>
            <a:r>
              <a:rPr lang="en-US" noProof="0" dirty="0">
                <a:hlinkClick r:id="rId3"/>
              </a:rPr>
              <a:t>https://www.pantone.com/pantone-connect</a:t>
            </a:r>
            <a:r>
              <a:rPr lang="en-US" noProof="0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00898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C7047B7-5ACC-1B74-DBD0-5CF953EBDD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842819"/>
            <a:ext cx="10515600" cy="579951"/>
          </a:xfrm>
        </p:spPr>
        <p:txBody>
          <a:bodyPr/>
          <a:lstStyle/>
          <a:p>
            <a:pPr marL="0" indent="0" algn="ctr">
              <a:buNone/>
            </a:pPr>
            <a:r>
              <a:rPr lang="en-US" noProof="0" dirty="0">
                <a:hlinkClick r:id="rId2"/>
              </a:rPr>
              <a:t>https://wearecolorblind.com/</a:t>
            </a:r>
            <a:r>
              <a:rPr lang="en-US" noProof="0" dirty="0"/>
              <a:t> </a:t>
            </a:r>
          </a:p>
        </p:txBody>
      </p:sp>
      <p:pic>
        <p:nvPicPr>
          <p:cNvPr id="6" name="Graphic 5" descr="Users with solid fill">
            <a:extLst>
              <a:ext uri="{FF2B5EF4-FFF2-40B4-BE49-F238E27FC236}">
                <a16:creationId xmlns:a16="http://schemas.microsoft.com/office/drawing/2014/main" id="{F76453DE-FBD8-52E2-4DF3-1D596BF42D0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09333" y="2872156"/>
            <a:ext cx="2492326" cy="24923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C9E301AE-A540-2209-F42F-2CCF5CBED647}"/>
              </a:ext>
            </a:extLst>
          </p:cNvPr>
          <p:cNvSpPr txBox="1"/>
          <p:nvPr/>
        </p:nvSpPr>
        <p:spPr>
          <a:xfrm>
            <a:off x="2348130" y="2046908"/>
            <a:ext cx="18147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noProof="0" dirty="0"/>
              <a:t>10</a:t>
            </a:r>
          </a:p>
        </p:txBody>
      </p:sp>
      <p:pic>
        <p:nvPicPr>
          <p:cNvPr id="9" name="Graphic 8" descr="User with solid fill">
            <a:extLst>
              <a:ext uri="{FF2B5EF4-FFF2-40B4-BE49-F238E27FC236}">
                <a16:creationId xmlns:a16="http://schemas.microsoft.com/office/drawing/2014/main" id="{74909D7B-B730-7514-C04D-2777779677E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494537" y="3378592"/>
            <a:ext cx="1479453" cy="147945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F66D3B95-283B-E4B0-1D16-22308982312E}"/>
              </a:ext>
            </a:extLst>
          </p:cNvPr>
          <p:cNvSpPr txBox="1"/>
          <p:nvPr/>
        </p:nvSpPr>
        <p:spPr>
          <a:xfrm>
            <a:off x="8326898" y="2046907"/>
            <a:ext cx="181473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200" noProof="0" dirty="0"/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29839710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54965D-3CFE-BBFD-5FBA-465D89384E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0574" y="1867796"/>
            <a:ext cx="3955515" cy="3798908"/>
          </a:xfr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noProof="0" dirty="0"/>
              <a:t>High contrast. </a:t>
            </a:r>
          </a:p>
          <a:p>
            <a:pPr>
              <a:lnSpc>
                <a:spcPct val="150000"/>
              </a:lnSpc>
            </a:pPr>
            <a:r>
              <a:rPr lang="en-US" noProof="0" dirty="0"/>
              <a:t>In some contexts, avoid providing information only by colors. </a:t>
            </a:r>
          </a:p>
        </p:txBody>
      </p:sp>
      <p:pic>
        <p:nvPicPr>
          <p:cNvPr id="1026" name="Picture 2" descr="Simulated color blindness for the Spotify app">
            <a:extLst>
              <a:ext uri="{FF2B5EF4-FFF2-40B4-BE49-F238E27FC236}">
                <a16:creationId xmlns:a16="http://schemas.microsoft.com/office/drawing/2014/main" id="{34E70F47-3FC5-B56A-BED2-F1C83EDC45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48213" y="0"/>
            <a:ext cx="7443787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015285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>
            <a:extLst>
              <a:ext uri="{FF2B5EF4-FFF2-40B4-BE49-F238E27FC236}">
                <a16:creationId xmlns:a16="http://schemas.microsoft.com/office/drawing/2014/main" id="{5BC18A40-EF01-F5BE-59B1-03C8CD5B329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7655" y="602639"/>
            <a:ext cx="10516690" cy="56527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085292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0063BBA-6F30-D1AB-A8A8-AB552B078A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91449" y="624738"/>
            <a:ext cx="5733854" cy="56085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56176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EC252D-BEC2-E66B-58AB-994D34F46D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3620" y="407613"/>
            <a:ext cx="5044759" cy="6042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61222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15974AD-DAD9-D18D-A7C8-CFBB75A79959}"/>
              </a:ext>
            </a:extLst>
          </p:cNvPr>
          <p:cNvSpPr/>
          <p:nvPr/>
        </p:nvSpPr>
        <p:spPr>
          <a:xfrm>
            <a:off x="1776548" y="2367171"/>
            <a:ext cx="8638904" cy="2123658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6600" b="1" cap="none" spc="0" noProof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III. Advanced diagrams</a:t>
            </a:r>
          </a:p>
          <a:p>
            <a:pPr algn="ctr"/>
            <a:r>
              <a:rPr lang="en-US" sz="6600" b="1" noProof="0" dirty="0">
                <a:ln w="13462">
                  <a:solidFill>
                    <a:schemeClr val="bg1"/>
                  </a:solidFill>
                  <a:prstDash val="solid"/>
                </a:ln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dist="38100" dir="2700000" algn="bl" rotWithShape="0">
                    <a:schemeClr val="accent5"/>
                  </a:outerShdw>
                </a:effectLst>
              </a:rPr>
              <a:t>#1. Histogram</a:t>
            </a:r>
            <a:endParaRPr lang="en-US" sz="6600" b="1" cap="none" spc="0" noProof="0" dirty="0">
              <a:ln w="13462">
                <a:solidFill>
                  <a:schemeClr val="bg1"/>
                </a:solidFill>
                <a:prstDash val="solid"/>
              </a:ln>
              <a:solidFill>
                <a:schemeClr val="tx1">
                  <a:lumMod val="85000"/>
                  <a:lumOff val="15000"/>
                </a:schemeClr>
              </a:solidFill>
              <a:effectLst>
                <a:outerShdw dist="38100" dir="2700000" algn="bl" rotWithShape="0">
                  <a:schemeClr val="accent5"/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5696336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04E214-C6AA-D10D-66B8-F23173A84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1F576B-D5C8-10B6-6B13-2D7B039B72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#1. Histogram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0F9388-066E-0DE8-EE69-E9F5B40A9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81541" cy="4351338"/>
          </a:xfrm>
        </p:spPr>
        <p:txBody>
          <a:bodyPr/>
          <a:lstStyle/>
          <a:p>
            <a:pPr>
              <a:lnSpc>
                <a:spcPct val="150000"/>
              </a:lnSpc>
            </a:pPr>
            <a:r>
              <a:rPr lang="en-US" noProof="0" dirty="0"/>
              <a:t>A graph to </a:t>
            </a:r>
            <a:r>
              <a:rPr lang="en-US" dirty="0"/>
              <a:t>demonstrate frequency distribution of continuous numerical data. </a:t>
            </a:r>
          </a:p>
          <a:p>
            <a:pPr>
              <a:lnSpc>
                <a:spcPct val="150000"/>
              </a:lnSpc>
            </a:pPr>
            <a:r>
              <a:rPr lang="en-US" noProof="0" dirty="0"/>
              <a:t>Apply to one feature only. 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6E4374D2-6EF6-934A-04C9-AE51CBC3167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1915466"/>
              </p:ext>
            </p:extLst>
          </p:nvPr>
        </p:nvGraphicFramePr>
        <p:xfrm>
          <a:off x="7181046" y="1097280"/>
          <a:ext cx="4172754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6377">
                  <a:extLst>
                    <a:ext uri="{9D8B030D-6E8A-4147-A177-3AD203B41FA5}">
                      <a16:colId xmlns:a16="http://schemas.microsoft.com/office/drawing/2014/main" val="1569451638"/>
                    </a:ext>
                  </a:extLst>
                </a:gridCol>
                <a:gridCol w="2086377">
                  <a:extLst>
                    <a:ext uri="{9D8B030D-6E8A-4147-A177-3AD203B41FA5}">
                      <a16:colId xmlns:a16="http://schemas.microsoft.com/office/drawing/2014/main" val="34989875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noProof="0" dirty="0"/>
                        <a:t>X (int)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noProof="0" dirty="0"/>
                        <a:t>Y (int)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792104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noProof="0" dirty="0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noProof="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802771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noProof="0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noProof="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056181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noProof="0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noProof="0" dirty="0"/>
                        <a:t>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10013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noProof="0" dirty="0"/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noProof="0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971838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noProof="0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noProof="0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21776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noProof="0" dirty="0"/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noProof="0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40365917"/>
                  </a:ext>
                </a:extLst>
              </a:tr>
              <a:tr h="433396">
                <a:tc>
                  <a:txBody>
                    <a:bodyPr/>
                    <a:lstStyle/>
                    <a:p>
                      <a:pPr algn="ctr"/>
                      <a:r>
                        <a:rPr lang="en-US" sz="2800" noProof="0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noProof="0" dirty="0"/>
                        <a:t>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9114319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noProof="0" dirty="0"/>
                        <a:t>...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noProof="0" dirty="0"/>
                        <a:t>…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97402076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4301771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hart 3">
            <a:extLst>
              <a:ext uri="{FF2B5EF4-FFF2-40B4-BE49-F238E27FC236}">
                <a16:creationId xmlns:a16="http://schemas.microsoft.com/office/drawing/2014/main" id="{920431B8-7BDC-C5EA-A6D0-1A62B8AC6B1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70239972"/>
              </p:ext>
            </p:extLst>
          </p:nvPr>
        </p:nvGraphicFramePr>
        <p:xfrm>
          <a:off x="1408242" y="498492"/>
          <a:ext cx="9375515" cy="586101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35142547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Chart 1">
            <a:extLst>
              <a:ext uri="{FF2B5EF4-FFF2-40B4-BE49-F238E27FC236}">
                <a16:creationId xmlns:a16="http://schemas.microsoft.com/office/drawing/2014/main" id="{03E9AE32-4210-D932-6832-AA0A2B52ACE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31468829"/>
              </p:ext>
            </p:extLst>
          </p:nvPr>
        </p:nvGraphicFramePr>
        <p:xfrm>
          <a:off x="1141751" y="402895"/>
          <a:ext cx="9908498" cy="605221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96827537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>
            <a:extLst>
              <a:ext uri="{FF2B5EF4-FFF2-40B4-BE49-F238E27FC236}">
                <a16:creationId xmlns:a16="http://schemas.microsoft.com/office/drawing/2014/main" id="{4C813620-746C-4ACA-E929-D6F0104B479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04" b="10002"/>
          <a:stretch/>
        </p:blipFill>
        <p:spPr bwMode="auto">
          <a:xfrm>
            <a:off x="1021829" y="243108"/>
            <a:ext cx="10148341" cy="63717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2422754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02EA7270-2596-E58F-4394-C505B3126D1C}"/>
              </a:ext>
            </a:extLst>
          </p:cNvPr>
          <p:cNvSpPr txBox="1">
            <a:spLocks/>
          </p:cNvSpPr>
          <p:nvPr/>
        </p:nvSpPr>
        <p:spPr>
          <a:xfrm>
            <a:off x="838200" y="374754"/>
            <a:ext cx="10515600" cy="3667070"/>
          </a:xfrm>
          <a:prstGeom prst="rect">
            <a:avLst/>
          </a:prstGeom>
        </p:spPr>
        <p:txBody>
          <a:bodyPr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00000"/>
              </a:lnSpc>
              <a:buFont typeface="Arial" panose="020B0604020202020204" pitchFamily="34" charset="0"/>
              <a:buNone/>
            </a:pPr>
            <a:r>
              <a:rPr lang="en-US" sz="3200" noProof="0" dirty="0"/>
              <a:t>Build a histogram: 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sz="2800" noProof="0" dirty="0"/>
              <a:t>Define bins (bucket/class/…) of data. </a:t>
            </a:r>
          </a:p>
          <a:p>
            <a:pPr lvl="1">
              <a:lnSpc>
                <a:spcPct val="100000"/>
              </a:lnSpc>
            </a:pPr>
            <a:r>
              <a:rPr lang="en-US" noProof="0" dirty="0"/>
              <a:t>Number of bins (</a:t>
            </a:r>
            <a:r>
              <a:rPr lang="en-US" i="1" noProof="0" dirty="0"/>
              <a:t>c </a:t>
            </a:r>
            <a:r>
              <a:rPr lang="en-US" noProof="0" dirty="0"/>
              <a:t>) </a:t>
            </a:r>
          </a:p>
          <a:p>
            <a:pPr lvl="1">
              <a:lnSpc>
                <a:spcPct val="100000"/>
              </a:lnSpc>
            </a:pPr>
            <a:r>
              <a:rPr lang="en-US" noProof="0" dirty="0"/>
              <a:t>Data range (</a:t>
            </a:r>
            <a:r>
              <a:rPr lang="en-US" i="1" noProof="0" dirty="0"/>
              <a:t>r</a:t>
            </a:r>
            <a:r>
              <a:rPr lang="en-US" noProof="0" dirty="0"/>
              <a:t> )</a:t>
            </a:r>
          </a:p>
          <a:p>
            <a:pPr lvl="1">
              <a:lnSpc>
                <a:spcPct val="100000"/>
              </a:lnSpc>
            </a:pPr>
            <a:r>
              <a:rPr lang="en-US" noProof="0" dirty="0"/>
              <a:t>Column width (</a:t>
            </a:r>
            <a:r>
              <a:rPr lang="en-US" i="1" noProof="0" dirty="0"/>
              <a:t>w </a:t>
            </a:r>
            <a:r>
              <a:rPr lang="en-US" noProof="0" dirty="0"/>
              <a:t>) </a:t>
            </a:r>
          </a:p>
          <a:p>
            <a:pPr marL="514350" indent="-514350">
              <a:lnSpc>
                <a:spcPct val="100000"/>
              </a:lnSpc>
              <a:buFont typeface="+mj-lt"/>
              <a:buAutoNum type="arabicPeriod"/>
            </a:pPr>
            <a:r>
              <a:rPr lang="en-US" noProof="0" dirty="0"/>
              <a:t>Draw. </a:t>
            </a:r>
          </a:p>
          <a:p>
            <a:pPr lvl="1">
              <a:lnSpc>
                <a:spcPct val="100000"/>
              </a:lnSpc>
            </a:pPr>
            <a:r>
              <a:rPr lang="en-US" noProof="0" dirty="0"/>
              <a:t>Calculate total of elements by bins.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776574A-9667-8773-BF2F-EE72DA1F132A}"/>
                  </a:ext>
                </a:extLst>
              </p:cNvPr>
              <p:cNvSpPr txBox="1"/>
              <p:nvPr/>
            </p:nvSpPr>
            <p:spPr>
              <a:xfrm>
                <a:off x="838200" y="4173802"/>
                <a:ext cx="5526374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1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3600" b="1" i="0" noProof="0"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m:rPr>
                              <m:nor/>
                            </m:rPr>
                            <a:rPr lang="en-US" sz="3600" b="1" i="0" noProof="0" smtClean="0">
                              <a:latin typeface="Cambria Math" panose="02040503050406030204" pitchFamily="18" charset="0"/>
                            </a:rPr>
                            <m:t>in</m:t>
                          </m:r>
                        </m:e>
                        <m:sub>
                          <m:r>
                            <a:rPr lang="en-US" sz="3600" b="1" i="1" noProof="0"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</m:oMath>
                  </m:oMathPara>
                </a14:m>
                <a:endParaRPr lang="en-US" sz="3600" i="1" noProof="0" dirty="0">
                  <a:latin typeface="Cambria Math" panose="02040503050406030204" pitchFamily="18" charset="0"/>
                </a:endParaRPr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noProof="0" smtClean="0">
                          <a:latin typeface="Cambria Math" panose="02040503050406030204" pitchFamily="18" charset="0"/>
                        </a:rPr>
                        <m:t>𝒓</m:t>
                      </m:r>
                      <m:r>
                        <a:rPr lang="en-US" sz="3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US" sz="3600" b="0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3600" noProof="0">
                              <a:latin typeface="Cambria Math" panose="02040503050406030204" pitchFamily="18" charset="0"/>
                            </a:rPr>
                            <m:t>max</m:t>
                          </m:r>
                        </m:e>
                        <m:sub>
                          <m:r>
                            <a:rPr lang="en-US" sz="3600" b="0" i="1" noProof="0" smtClean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  <m:r>
                        <a:rPr lang="en-US" sz="3600" b="0" i="1" noProof="0" smtClean="0">
                          <a:latin typeface="Cambria Math" panose="02040503050406030204" pitchFamily="18" charset="0"/>
                        </a:rPr>
                        <m:t>−</m:t>
                      </m:r>
                      <m:sSub>
                        <m:sSubPr>
                          <m:ctrlPr>
                            <a:rPr lang="en-US" sz="3600" i="1" noProof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sz="3600" i="0" noProof="0">
                              <a:latin typeface="Cambria Math" panose="02040503050406030204" pitchFamily="18" charset="0"/>
                            </a:rPr>
                            <m:t>m</m:t>
                          </m:r>
                          <m:r>
                            <m:rPr>
                              <m:nor/>
                            </m:rPr>
                            <a:rPr lang="en-US" sz="3600" b="0" i="0" noProof="0" smtClean="0">
                              <a:latin typeface="Cambria Math" panose="02040503050406030204" pitchFamily="18" charset="0"/>
                            </a:rPr>
                            <m:t>in</m:t>
                          </m:r>
                        </m:e>
                        <m:sub>
                          <m:r>
                            <a:rPr lang="en-US" sz="3600" i="1" noProof="0">
                              <a:latin typeface="Cambria Math" panose="02040503050406030204" pitchFamily="18" charset="0"/>
                            </a:rPr>
                            <m:t>𝑥</m:t>
                          </m:r>
                        </m:sub>
                      </m:sSub>
                    </m:oMath>
                  </m:oMathPara>
                </a14:m>
                <a:endParaRPr lang="en-US" sz="3600" b="0" i="1" noProof="0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TextBox 2">
                <a:extLst>
                  <a:ext uri="{FF2B5EF4-FFF2-40B4-BE49-F238E27FC236}">
                    <a16:creationId xmlns:a16="http://schemas.microsoft.com/office/drawing/2014/main" id="{2776574A-9667-8773-BF2F-EE72DA1F132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4173802"/>
                <a:ext cx="5526374" cy="175432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2C35DF8-14BB-ADA8-7423-B11D80AE84C6}"/>
                  </a:ext>
                </a:extLst>
              </p:cNvPr>
              <p:cNvSpPr txBox="1"/>
              <p:nvPr/>
            </p:nvSpPr>
            <p:spPr>
              <a:xfrm>
                <a:off x="6096000" y="3789526"/>
                <a:ext cx="5526374" cy="234654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3600" b="1" i="1" noProof="0" smtClean="0">
                          <a:latin typeface="Cambria Math" panose="02040503050406030204" pitchFamily="18" charset="0"/>
                        </a:rPr>
                        <m:t>𝒘</m:t>
                      </m:r>
                      <m:r>
                        <a:rPr lang="en-US" sz="3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sz="3600" b="0" i="1" noProof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sz="3600" b="0" i="1" noProof="0" smtClean="0">
                              <a:latin typeface="Cambria Math" panose="02040503050406030204" pitchFamily="18" charset="0"/>
                            </a:rPr>
                            <m:t>𝑟</m:t>
                          </m:r>
                        </m:num>
                        <m:den>
                          <m:r>
                            <a:rPr lang="en-US" sz="3600" b="0" i="1" noProof="0" smtClean="0">
                              <a:latin typeface="Cambria Math" panose="02040503050406030204" pitchFamily="18" charset="0"/>
                            </a:rPr>
                            <m:t>𝑐</m:t>
                          </m:r>
                        </m:den>
                      </m:f>
                    </m:oMath>
                  </m:oMathPara>
                </a14:m>
                <a:endParaRPr lang="en-US" sz="3600" b="0" noProof="0" dirty="0"/>
              </a:p>
              <a:p>
                <a:pPr>
                  <a:lnSpc>
                    <a:spcPct val="150000"/>
                  </a:lnSpc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3600" b="1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3600" b="1" i="1" noProof="0" smtClean="0">
                              <a:latin typeface="Cambria Math" panose="02040503050406030204" pitchFamily="18" charset="0"/>
                            </a:rPr>
                            <m:t>𝒚</m:t>
                          </m:r>
                        </m:e>
                        <m:sub>
                          <m:r>
                            <a:rPr lang="en-US" sz="3600" b="1" i="1" noProof="0" smtClean="0">
                              <a:latin typeface="Cambria Math" panose="02040503050406030204" pitchFamily="18" charset="0"/>
                            </a:rPr>
                            <m:t>𝒊</m:t>
                          </m:r>
                        </m:sub>
                      </m:sSub>
                      <m:r>
                        <a:rPr lang="en-US" sz="3600" b="0" i="1" noProof="0" smtClean="0">
                          <a:latin typeface="Cambria Math" panose="02040503050406030204" pitchFamily="18" charset="0"/>
                        </a:rPr>
                        <m:t>=</m:t>
                      </m:r>
                      <m:d>
                        <m:dPr>
                          <m:begChr m:val="|"/>
                          <m:endChr m:val="|"/>
                          <m:ctrlPr>
                            <a:rPr lang="en-US" sz="3600" b="0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US" sz="3600" b="0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3600" b="0" i="1" noProof="0" smtClean="0">
                                  <a:latin typeface="Cambria Math" panose="02040503050406030204" pitchFamily="18" charset="0"/>
                                </a:rPr>
                                <m:t>𝑋</m:t>
                              </m:r>
                            </m:e>
                            <m:sub>
                              <m:r>
                                <a:rPr lang="en-US" sz="3600" b="0" i="1" noProof="0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sz="3600" noProof="0" dirty="0"/>
              </a:p>
            </p:txBody>
          </p:sp>
        </mc:Choice>
        <mc:Fallback xmlns=""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2C35DF8-14BB-ADA8-7423-B11D80AE84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096000" y="3789526"/>
                <a:ext cx="5526374" cy="2346540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010026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3" grpId="0"/>
      <p:bldP spid="4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FCF5AFFC-9B14-C0BC-5F96-EC7213A3E1BC}"/>
                  </a:ext>
                </a:extLst>
              </p:cNvPr>
              <p:cNvSpPr txBox="1">
                <a:spLocks/>
              </p:cNvSpPr>
              <p:nvPr/>
            </p:nvSpPr>
            <p:spPr>
              <a:xfrm>
                <a:off x="838200" y="644577"/>
                <a:ext cx="10515600" cy="5653192"/>
              </a:xfrm>
              <a:prstGeom prst="rect">
                <a:avLst/>
              </a:prstGeom>
            </p:spPr>
            <p:txBody>
              <a:bodyPr/>
              <a:lstStyle>
                <a:lvl1pPr marL="228600" indent="-228600" algn="l" defTabSz="914400" rtl="0" eaLnBrk="1" latinLnBrk="0" hangingPunct="1">
                  <a:lnSpc>
                    <a:spcPct val="90000"/>
                  </a:lnSpc>
                  <a:spcBef>
                    <a:spcPts val="1000"/>
                  </a:spcBef>
                  <a:buFont typeface="Arial" panose="020B0604020202020204" pitchFamily="34" charset="0"/>
                  <a:buChar char="•"/>
                  <a:defRPr sz="2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1pPr>
                <a:lvl2pPr marL="685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4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2pPr>
                <a:lvl3pPr marL="1143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20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3pPr>
                <a:lvl4pPr marL="1600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4pPr>
                <a:lvl5pPr marL="20574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5pPr>
                <a:lvl6pPr marL="25146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6pPr>
                <a:lvl7pPr marL="29718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7pPr>
                <a:lvl8pPr marL="34290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8pPr>
                <a:lvl9pPr marL="3886200" indent="-228600" algn="l" defTabSz="914400" rtl="0" eaLnBrk="1" latinLnBrk="0" hangingPunct="1">
                  <a:lnSpc>
                    <a:spcPct val="90000"/>
                  </a:lnSpc>
                  <a:spcBef>
                    <a:spcPts val="500"/>
                  </a:spcBef>
                  <a:buFont typeface="Arial" panose="020B0604020202020204" pitchFamily="34" charset="0"/>
                  <a:buChar char="•"/>
                  <a:defRPr sz="1800" kern="1200">
                    <a:solidFill>
                      <a:schemeClr val="tx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indent="0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:r>
                  <a:rPr lang="en-US" noProof="0" dirty="0"/>
                  <a:t>Square root </a:t>
                </a:r>
                <a:r>
                  <a:rPr lang="en-US" i="1" noProof="0" dirty="0"/>
                  <a:t>n </a:t>
                </a:r>
                <a:r>
                  <a:rPr lang="en-US" noProof="0" dirty="0"/>
                  <a:t> as </a:t>
                </a:r>
                <a:r>
                  <a:rPr lang="en-US" i="1" noProof="0" dirty="0"/>
                  <a:t>c </a:t>
                </a:r>
                <a:r>
                  <a:rPr lang="en-US" noProof="0" dirty="0"/>
                  <a:t>: </a:t>
                </a:r>
              </a:p>
              <a:p>
                <a:pPr marL="0" indent="0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noProof="0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i="1" noProof="0" smtClean="0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US" i="1" noProof="0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i="1" noProof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rad>
                    </m:oMath>
                  </m:oMathPara>
                </a14:m>
                <a:endParaRPr lang="en-US" noProof="0" dirty="0"/>
              </a:p>
              <a:p>
                <a:pPr marL="0" indent="0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:r>
                  <a:rPr lang="en-US" noProof="0" dirty="0"/>
                  <a:t>Sturge formation: </a:t>
                </a:r>
              </a:p>
              <a:p>
                <a:pPr marL="0" indent="0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noProof="0" smtClean="0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en-US" i="1" noProof="0" smtClean="0">
                          <a:latin typeface="Cambria Math" panose="02040503050406030204" pitchFamily="18" charset="0"/>
                        </a:rPr>
                        <m:t>=1+3.322</m:t>
                      </m:r>
                      <m:func>
                        <m:funcPr>
                          <m:ctrlPr>
                            <a:rPr lang="en-US" i="1" noProof="0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sSub>
                            <m:sSubPr>
                              <m:ctrlPr>
                                <a:rPr lang="en-US" i="1" noProof="0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m:rPr>
                                  <m:sty m:val="p"/>
                                </m:rPr>
                                <a:rPr lang="en-US" noProof="0" smtClean="0">
                                  <a:latin typeface="Cambria Math" panose="02040503050406030204" pitchFamily="18" charset="0"/>
                                </a:rPr>
                                <m:t>log</m:t>
                              </m:r>
                            </m:e>
                            <m:sub>
                              <m:r>
                                <a:rPr lang="en-US" i="1" noProof="0" smtClean="0">
                                  <a:latin typeface="Cambria Math" panose="02040503050406030204" pitchFamily="18" charset="0"/>
                                </a:rPr>
                                <m:t>10</m:t>
                              </m:r>
                            </m:sub>
                          </m:sSub>
                        </m:fName>
                        <m:e>
                          <m:r>
                            <a:rPr lang="en-US" i="1" noProof="0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e>
                      </m:func>
                    </m:oMath>
                  </m:oMathPara>
                </a14:m>
                <a:endParaRPr lang="en-US" noProof="0" dirty="0"/>
              </a:p>
              <a:p>
                <a:pPr marL="0" indent="0">
                  <a:lnSpc>
                    <a:spcPct val="150000"/>
                  </a:lnSpc>
                  <a:buFont typeface="Arial" panose="020B0604020202020204" pitchFamily="34" charset="0"/>
                  <a:buNone/>
                </a:pPr>
                <a:r>
                  <a:rPr lang="en-US" noProof="0" dirty="0"/>
                  <a:t>Use Sturge when: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sz="2800" noProof="0" dirty="0"/>
                  <a:t>It’s a uniform distribution. </a:t>
                </a:r>
              </a:p>
              <a:p>
                <a:pPr lvl="1">
                  <a:lnSpc>
                    <a:spcPct val="150000"/>
                  </a:lnSpc>
                </a:pPr>
                <a:r>
                  <a:rPr lang="en-US" sz="2800" noProof="0" dirty="0"/>
                  <a:t>Or the distribution is symmetrical around the average value. </a:t>
                </a:r>
              </a:p>
            </p:txBody>
          </p:sp>
        </mc:Choice>
        <mc:Fallback xmlns="">
          <p:sp>
            <p:nvSpPr>
              <p:cNvPr id="2" name="Content Placeholder 2">
                <a:extLst>
                  <a:ext uri="{FF2B5EF4-FFF2-40B4-BE49-F238E27FC236}">
                    <a16:creationId xmlns:a16="http://schemas.microsoft.com/office/drawing/2014/main" id="{FCF5AFFC-9B14-C0BC-5F96-EC7213A3E1B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8200" y="644577"/>
                <a:ext cx="10515600" cy="5653192"/>
              </a:xfrm>
              <a:prstGeom prst="rect">
                <a:avLst/>
              </a:prstGeom>
              <a:blipFill>
                <a:blip r:embed="rId2"/>
                <a:stretch>
                  <a:fillRect l="-1217" r="-5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5723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299C9E-2C62-AE65-7135-E2C5F97A98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#2. Heatmap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D08F05-052B-4FB3-5A26-C8A919C46E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noProof="0" dirty="0"/>
              <a:t>A smaller 2D image (compared to reality) that has an appropriate precision. </a:t>
            </a:r>
          </a:p>
          <a:p>
            <a:pPr>
              <a:lnSpc>
                <a:spcPct val="150000"/>
              </a:lnSpc>
            </a:pPr>
            <a:r>
              <a:rPr lang="en-US" noProof="0" dirty="0"/>
              <a:t>Heatmap is drawn with colors to illustrate the intensity of values. </a:t>
            </a:r>
          </a:p>
          <a:p>
            <a:pPr lvl="1">
              <a:lnSpc>
                <a:spcPct val="150000"/>
              </a:lnSpc>
            </a:pPr>
            <a:r>
              <a:rPr lang="en-US" noProof="0" dirty="0"/>
              <a:t>The higher values </a:t>
            </a:r>
            <a:r>
              <a:rPr lang="en-US" dirty="0"/>
              <a:t>are cautious. </a:t>
            </a:r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12454229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282C60D-A198-D003-7C5E-7652E4AACC7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2744" y="731628"/>
            <a:ext cx="5306512" cy="5394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897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45D4FE4B-28A3-E460-4116-61EB6CEE92B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5347" y="833673"/>
            <a:ext cx="10381306" cy="5190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15429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5D5F0E-09A9-9B7E-47A1-112CC5D40F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noProof="0" dirty="0"/>
              <a:t>Input data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9C4347-83C9-70B5-8F6F-7B9F7EFAC0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667250"/>
          </a:xfrm>
        </p:spPr>
        <p:txBody>
          <a:bodyPr>
            <a:normAutofit/>
          </a:bodyPr>
          <a:lstStyle/>
          <a:p>
            <a:pPr>
              <a:lnSpc>
                <a:spcPct val="110000"/>
              </a:lnSpc>
            </a:pPr>
            <a:r>
              <a:rPr lang="en-US" noProof="0" dirty="0"/>
              <a:t>Values (raw) </a:t>
            </a:r>
          </a:p>
          <a:p>
            <a:pPr>
              <a:lnSpc>
                <a:spcPct val="110000"/>
              </a:lnSpc>
            </a:pPr>
            <a:r>
              <a:rPr lang="en-US" noProof="0" dirty="0"/>
              <a:t>Preprocessed values </a:t>
            </a:r>
          </a:p>
          <a:p>
            <a:pPr>
              <a:lnSpc>
                <a:spcPct val="110000"/>
              </a:lnSpc>
            </a:pPr>
            <a:r>
              <a:rPr lang="en-US" noProof="0" dirty="0"/>
              <a:t>Similarities </a:t>
            </a:r>
          </a:p>
          <a:p>
            <a:pPr lvl="1">
              <a:lnSpc>
                <a:spcPct val="110000"/>
              </a:lnSpc>
            </a:pPr>
            <a:r>
              <a:rPr lang="en-US" noProof="0" dirty="0"/>
              <a:t>Covariance </a:t>
            </a:r>
          </a:p>
          <a:p>
            <a:pPr lvl="1">
              <a:lnSpc>
                <a:spcPct val="110000"/>
              </a:lnSpc>
            </a:pPr>
            <a:r>
              <a:rPr lang="en-US" noProof="0" dirty="0"/>
              <a:t>Pearson similarity </a:t>
            </a:r>
          </a:p>
          <a:p>
            <a:pPr lvl="1">
              <a:lnSpc>
                <a:spcPct val="110000"/>
              </a:lnSpc>
            </a:pPr>
            <a:r>
              <a:rPr lang="en-US" noProof="0" dirty="0"/>
              <a:t>Cosine similarity </a:t>
            </a:r>
          </a:p>
          <a:p>
            <a:pPr lvl="1">
              <a:lnSpc>
                <a:spcPct val="110000"/>
              </a:lnSpc>
            </a:pPr>
            <a:r>
              <a:rPr lang="en-US" noProof="0" dirty="0"/>
              <a:t>Euclide similarity </a:t>
            </a:r>
          </a:p>
          <a:p>
            <a:pPr lvl="1">
              <a:lnSpc>
                <a:spcPct val="110000"/>
              </a:lnSpc>
            </a:pPr>
            <a:r>
              <a:rPr lang="en-US" noProof="0" dirty="0"/>
              <a:t>… </a:t>
            </a:r>
          </a:p>
          <a:p>
            <a:pPr>
              <a:lnSpc>
                <a:spcPct val="110000"/>
              </a:lnSpc>
            </a:pPr>
            <a:r>
              <a:rPr lang="en-US" b="1" noProof="0" dirty="0">
                <a:solidFill>
                  <a:srgbClr val="FF0000"/>
                </a:solidFill>
              </a:rPr>
              <a:t>Feature correlations </a:t>
            </a:r>
          </a:p>
        </p:txBody>
      </p:sp>
    </p:spTree>
    <p:extLst>
      <p:ext uri="{BB962C8B-B14F-4D97-AF65-F5344CB8AC3E}">
        <p14:creationId xmlns:p14="http://schemas.microsoft.com/office/powerpoint/2010/main" val="25212336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Lightbox">
            <a:extLst>
              <a:ext uri="{FF2B5EF4-FFF2-40B4-BE49-F238E27FC236}">
                <a16:creationId xmlns:a16="http://schemas.microsoft.com/office/drawing/2014/main" id="{57636220-D520-42A4-02EF-30C16F1B66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85975" y="0"/>
            <a:ext cx="802005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30922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0CE1AC-0AA9-91FA-95F5-CF6DA43CA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91295"/>
            <a:ext cx="10515600" cy="710226"/>
          </a:xfrm>
        </p:spPr>
        <p:txBody>
          <a:bodyPr/>
          <a:lstStyle/>
          <a:p>
            <a:r>
              <a:rPr lang="en-US" noProof="0" dirty="0"/>
              <a:t>Before doing exercises </a:t>
            </a:r>
          </a:p>
        </p:txBody>
      </p:sp>
      <p:graphicFrame>
        <p:nvGraphicFramePr>
          <p:cNvPr id="4" name="Table 4">
            <a:extLst>
              <a:ext uri="{FF2B5EF4-FFF2-40B4-BE49-F238E27FC236}">
                <a16:creationId xmlns:a16="http://schemas.microsoft.com/office/drawing/2014/main" id="{B9822985-D7A2-300D-750F-12A4BE62F8D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110089955"/>
              </p:ext>
            </p:extLst>
          </p:nvPr>
        </p:nvGraphicFramePr>
        <p:xfrm>
          <a:off x="677056" y="901521"/>
          <a:ext cx="10837888" cy="563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6026">
                  <a:extLst>
                    <a:ext uri="{9D8B030D-6E8A-4147-A177-3AD203B41FA5}">
                      <a16:colId xmlns:a16="http://schemas.microsoft.com/office/drawing/2014/main" val="1099589015"/>
                    </a:ext>
                  </a:extLst>
                </a:gridCol>
                <a:gridCol w="2923082">
                  <a:extLst>
                    <a:ext uri="{9D8B030D-6E8A-4147-A177-3AD203B41FA5}">
                      <a16:colId xmlns:a16="http://schemas.microsoft.com/office/drawing/2014/main" val="2862411515"/>
                    </a:ext>
                  </a:extLst>
                </a:gridCol>
                <a:gridCol w="2878111">
                  <a:extLst>
                    <a:ext uri="{9D8B030D-6E8A-4147-A177-3AD203B41FA5}">
                      <a16:colId xmlns:a16="http://schemas.microsoft.com/office/drawing/2014/main" val="1703670055"/>
                    </a:ext>
                  </a:extLst>
                </a:gridCol>
                <a:gridCol w="2790669">
                  <a:extLst>
                    <a:ext uri="{9D8B030D-6E8A-4147-A177-3AD203B41FA5}">
                      <a16:colId xmlns:a16="http://schemas.microsoft.com/office/drawing/2014/main" val="246506384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3200" b="1" noProof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noProof="0" dirty="0"/>
                        <a:t>Matplotlib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noProof="0" dirty="0"/>
                        <a:t>Plotly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3200" noProof="0" dirty="0"/>
                        <a:t>Seaborn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8360884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noProof="0" dirty="0"/>
                        <a:t>Main features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noProof="0" dirty="0"/>
                        <a:t>Draw diagrams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noProof="0" dirty="0"/>
                        <a:t>Draw diagrams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457200" indent="-457200">
                        <a:buFontTx/>
                        <a:buChar char="-"/>
                      </a:pPr>
                      <a:r>
                        <a:rPr lang="en-US" sz="2800" noProof="0" dirty="0"/>
                        <a:t>Data visualization </a:t>
                      </a:r>
                    </a:p>
                    <a:p>
                      <a:pPr marL="457200" indent="-457200">
                        <a:buFontTx/>
                        <a:buChar char="-"/>
                      </a:pPr>
                      <a:r>
                        <a:rPr lang="en-US" sz="2800" noProof="0" dirty="0"/>
                        <a:t>Matplotlib supports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42756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noProof="0" dirty="0"/>
                        <a:t>Languages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noProof="0" dirty="0"/>
                        <a:t>Python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noProof="0" dirty="0"/>
                        <a:t>Python, R, JS,...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noProof="0" dirty="0"/>
                        <a:t>Python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8462463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noProof="0" dirty="0"/>
                        <a:t>Draw functions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noProof="0" dirty="0" err="1"/>
                        <a:t>plt</a:t>
                      </a:r>
                      <a:r>
                        <a:rPr lang="en-US" sz="2800" noProof="0" dirty="0"/>
                        <a:t>.&lt;type&gt;</a:t>
                      </a:r>
                    </a:p>
                    <a:p>
                      <a:pPr algn="ctr"/>
                      <a:r>
                        <a:rPr lang="en-US" sz="2800" noProof="0" dirty="0" err="1"/>
                        <a:t>plt.subplots</a:t>
                      </a:r>
                      <a:r>
                        <a:rPr lang="en-US" sz="2800" noProof="0" dirty="0"/>
                        <a:t>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noProof="0" dirty="0" err="1"/>
                        <a:t>go.Figure</a:t>
                      </a:r>
                      <a:r>
                        <a:rPr lang="en-US" sz="2800" noProof="0" dirty="0"/>
                        <a:t> (Python)</a:t>
                      </a:r>
                    </a:p>
                    <a:p>
                      <a:pPr algn="ctr"/>
                      <a:r>
                        <a:rPr lang="en-US" sz="2800" noProof="0" dirty="0" err="1"/>
                        <a:t>plot_ly</a:t>
                      </a:r>
                      <a:r>
                        <a:rPr lang="en-US" sz="2800" noProof="0" dirty="0"/>
                        <a:t> (R)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noProof="0" dirty="0" err="1"/>
                        <a:t>sns.relplot</a:t>
                      </a:r>
                      <a:endParaRPr lang="en-US" sz="2800" noProof="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929872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b="1" noProof="0" dirty="0"/>
                        <a:t>Zeppelin</a:t>
                      </a:r>
                    </a:p>
                    <a:p>
                      <a:pPr algn="ctr"/>
                      <a:r>
                        <a:rPr lang="en-US" sz="2800" b="1" noProof="0" dirty="0"/>
                        <a:t>0.8.2</a:t>
                      </a:r>
                    </a:p>
                    <a:p>
                      <a:pPr algn="ctr"/>
                      <a:r>
                        <a:rPr lang="en-US" sz="2800" b="1" noProof="0" dirty="0" err="1"/>
                        <a:t>compability</a:t>
                      </a:r>
                      <a:endParaRPr lang="en-US" sz="2800" b="1" noProof="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noProof="0" dirty="0"/>
                        <a:t>3.5.2 </a:t>
                      </a:r>
                    </a:p>
                    <a:p>
                      <a:pPr algn="ctr"/>
                      <a:r>
                        <a:rPr lang="en-US" sz="2800" noProof="0" dirty="0"/>
                        <a:t>Python &gt;= 3.10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noProof="0" dirty="0"/>
                        <a:t>Latest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800" noProof="0" dirty="0"/>
                        <a:t>Latest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827644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959992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1">
      <a:majorFont>
        <a:latin typeface="SamsungOne 700"/>
        <a:ea typeface=""/>
        <a:cs typeface=""/>
      </a:majorFont>
      <a:minorFont>
        <a:latin typeface="SamsungOne 400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319</TotalTime>
  <Words>678</Words>
  <Application>Microsoft Office PowerPoint</Application>
  <PresentationFormat>Widescreen</PresentationFormat>
  <Paragraphs>187</Paragraphs>
  <Slides>38</Slides>
  <Notes>16</Notes>
  <HiddenSlides>1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4" baseType="lpstr">
      <vt:lpstr>Arial</vt:lpstr>
      <vt:lpstr>Calibri</vt:lpstr>
      <vt:lpstr>Cambria Math</vt:lpstr>
      <vt:lpstr>SamsungOne 400</vt:lpstr>
      <vt:lpstr>SamsungOne 700</vt:lpstr>
      <vt:lpstr>Office Theme</vt:lpstr>
      <vt:lpstr>Day 4: Data visualization</vt:lpstr>
      <vt:lpstr>Contents</vt:lpstr>
      <vt:lpstr>PowerPoint Presentation</vt:lpstr>
      <vt:lpstr>I. Diagram types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II. Colors &amp; symbols </vt:lpstr>
      <vt:lpstr>PowerPoint Presentation</vt:lpstr>
      <vt:lpstr>Color palette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#1. Histogram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#2. Heatmap </vt:lpstr>
      <vt:lpstr>PowerPoint Presentation</vt:lpstr>
      <vt:lpstr>PowerPoint Presentation</vt:lpstr>
      <vt:lpstr>Input data </vt:lpstr>
      <vt:lpstr>PowerPoint Presentation</vt:lpstr>
      <vt:lpstr>Before doing exercises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Day 4: Data visualization</dc:title>
  <dc:creator>Tân Rogger</dc:creator>
  <cp:lastModifiedBy>Tân Rogger</cp:lastModifiedBy>
  <cp:revision>66</cp:revision>
  <dcterms:created xsi:type="dcterms:W3CDTF">2024-02-11T08:10:12Z</dcterms:created>
  <dcterms:modified xsi:type="dcterms:W3CDTF">2026-05-12T14:44:31Z</dcterms:modified>
</cp:coreProperties>
</file>